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17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6" name="Shape 17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Introduce the problem and position the output as review support rather than an automated claim decision.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Sections 1 and 12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19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5" name="Shape 19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Summarise the six datasets, the binary target, and the claim-level modelling grain.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Sections 1 and 2</a:t>
            </a:r>
          </a:p>
          <a:p>
            <a:pPr/>
            <a:r>
              <a:t>- claims.csv; policy_details.csv; customer_claim_history.csv; claim_third_parties.csv; claim_estimates.csv; claim_notes.csv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2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6" name="Shape 2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Use the class balance to motivate average precision and precision-recall analysis. Associations are descriptive, not causal.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Sections 3.1–3.7</a:t>
            </a:r>
          </a:p>
          <a:p>
            <a:pPr/>
            <a:r>
              <a:t>- claims.csv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22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6" name="Shape 22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Explain the audit results, claim-level aggregation, imputation, encoding, scaling and leakage exclusions. IQR flags prompted review rather than automatic capping because the upper-tail amounts remained plausible.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Sections 2, 4.7 and 6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25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2" name="Shape 25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Describe the executed agent review: 26 fixed Day-30 notes, two per source type. The saved annotations make the review inspectable without an API call. The 100% figure is agreement with a conservative metadata policy, not model performance. The policy excludes raw text and outcome-adjacent categories.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 4.5</a:t>
            </a:r>
          </a:p>
          <a:p>
            <a:pPr/>
            <a:r>
              <a:t>- agent_note_review.csv</a:t>
            </a:r>
          </a:p>
          <a:p>
            <a:pPr/>
            <a:r>
              <a:t>- claim_notes.csv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2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2" name="Shape 2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Explain the construction and purpose of the three highlighted features. Supporting ratios and Day-30 aggregates are also retained. Original inputs remain where they add scale or context; direct identifiers, precise location, raw text and leakage-prone signals are excluded.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Sections 4.2–4.8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29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4" name="Shape 29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Explain the baseline, two candidate algorithms, chronological split, balanced class weights and compact hyperparameter grid.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Sections 5–8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Shape 32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1" name="Shape 32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Compare all three model families directly. The displayed classifier rows use each family's best validation configuration. Lower Brier score is better. Average precision selected logistic regression with C equal to 10; random forest had slightly higher ROC AUC but lower average precision and worse probability accuracy.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Sections 7 and 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3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34" name="Shape 3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threshold is an operational choice. Higher recall is available at the cost of more referrals and lower precision.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 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hape 35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2" name="Shape 35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These are the final out-of-time results after refitting on 2022–2024. The test contains 228 claims, including 38 litigated claims.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 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36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66" name="Shape 36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Permutation importance measures the drop in test average precision after shuffling each original feature. Avoid causal language.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 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Shape 40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3" name="Shape 40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This is a future-state proposal, not part of the model evaluated in this homework.</a:t>
            </a:r>
          </a:p>
          <a:p>
            <a:pPr/>
          </a:p>
          <a:p>
            <a:pPr/>
            <a:r>
              <a:t>Walkthrough:</a:t>
            </a:r>
          </a:p>
          <a:p>
            <a:pPr/>
            <a:r>
              <a:t>1. The intake agent checks file structure, dates and the Day-30 cutoff, then creates a validated claim packet.</a:t>
            </a:r>
          </a:p>
          <a:p>
            <a:pPr/>
            <a:r>
              <a:t>2. The note evidence agent applies an approved taxonomy, links every theme to its source note and flags legal or outcome-adjacent content.</a:t>
            </a:r>
          </a:p>
          <a:p>
            <a:pPr/>
            <a:r>
              <a:t>3. The risk and quality agent runs the fixed feature pipeline and model, produces reason codes, and checks calibration or drift before releasing a score.</a:t>
            </a:r>
          </a:p>
          <a:p>
            <a:pPr/>
            <a:r>
              <a:t>4. The Claims professional receives the score, cited evidence and quality status in a review queue. The professional retains responsibility for coverage, payment and settlement decisions.</a:t>
            </a:r>
          </a:p>
          <a:p>
            <a:pPr/>
            <a:r>
              <a:t>5. Access controls, minimal personal data, version logs and monitoring provide an audit trail across the workflow.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Future-state proposal informed by Home_insurance_litigation_task.ipynb, Sections 4.5, 11 and 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41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18" name="Shape 41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Close with the recommendation, limitations and future improvements: capacity-based thresholding, calibration, subgroup checks, monitoring and prospective validation.</a:t>
            </a:r>
          </a:p>
          <a:p>
            <a:pPr/>
          </a:p>
          <a:p>
            <a:pPr/>
            <a:r>
              <a:t>[Sources]</a:t>
            </a:r>
          </a:p>
          <a:p>
            <a:pPr/>
            <a:r>
              <a:t>- Home_insurance_litigation_task.ipynb, Section 12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dy Level One…"/>
          <p:cNvSpPr txBox="1"/>
          <p:nvPr>
            <p:ph type="body" sz="quarter" idx="1" hasCustomPrompt="1"/>
          </p:nvPr>
        </p:nvSpPr>
        <p:spPr>
          <a:xfrm>
            <a:off x="1201340" y="11859862"/>
            <a:ext cx="21971004" cy="6369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b="1" sz="3600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b="1" sz="3600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b="1" sz="3600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b="1" sz="3600"/>
            </a:lvl5pPr>
          </a:lstStyle>
          <a:p>
            <a:pPr/>
            <a:r>
              <a:t>Author and Date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5" cy="4648202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21" hasCustomPrompt="1"/>
          </p:nvPr>
        </p:nvSpPr>
        <p:spPr>
          <a:xfrm>
            <a:off x="1201342" y="7223190"/>
            <a:ext cx="21971002" cy="1905002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Presentation Subtitle</a:t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Body Level One…"/>
          <p:cNvSpPr txBox="1"/>
          <p:nvPr>
            <p:ph type="body" sz="quarter" idx="1" hasCustomPrompt="1"/>
          </p:nvPr>
        </p:nvSpPr>
        <p:spPr>
          <a:xfrm>
            <a:off x="1207690" y="1106137"/>
            <a:ext cx="21968621" cy="6369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b="1" sz="3600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b="1" sz="3600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b="1" sz="3600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b="1" sz="3600"/>
            </a:lvl5pPr>
          </a:lstStyle>
          <a:p>
            <a:pPr/>
            <a:r>
              <a:t>Author and Date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Body Level One…"/>
          <p:cNvSpPr txBox="1"/>
          <p:nvPr>
            <p:ph type="body" sz="quarter" idx="22" hasCustomPrompt="1"/>
          </p:nvPr>
        </p:nvSpPr>
        <p:spPr>
          <a:xfrm>
            <a:off x="1206500" y="11609909"/>
            <a:ext cx="21971000" cy="111695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Presentation Subtitle</a:t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 and houmo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21971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4" name="Body Level One…"/>
          <p:cNvSpPr txBox="1"/>
          <p:nvPr>
            <p:ph type="body" idx="2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9779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1" name="Body Level One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62" name="Bowl of pappardelle pasta with parsley butter, roasted hazelnuts and shaved parmesan cheese"/>
          <p:cNvSpPr/>
          <p:nvPr>
            <p:ph type="pic" idx="22"/>
          </p:nvPr>
        </p:nvSpPr>
        <p:spPr>
          <a:xfrm>
            <a:off x="12192000" y="-407266"/>
            <a:ext cx="10916874" cy="145558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9779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2" name="Body Level One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7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9779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2" name="Body Level One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8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92" name="Slide Number"/>
          <p:cNvSpPr txBox="1"/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5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100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21971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109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21971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Agenda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0" name="Body Level One…"/>
          <p:cNvSpPr txBox="1"/>
          <p:nvPr>
            <p:ph type="body" idx="2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99" sz="5500"/>
            </a:lvl1pPr>
          </a:lstStyle>
          <a:p>
            <a:pPr/>
            <a:r>
              <a:t>Agenda Topics</a:t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/>
          <p:nvPr>
            <p:ph type="body" idx="1" hasCustomPrompt="1"/>
          </p:nvPr>
        </p:nvSpPr>
        <p:spPr>
          <a:xfrm>
            <a:off x="1206500" y="1075926"/>
            <a:ext cx="21971000" cy="7241586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Body Level One…"/>
          <p:cNvSpPr txBox="1"/>
          <p:nvPr>
            <p:ph type="body" sz="quarter" idx="1" hasCustomPrompt="1"/>
          </p:nvPr>
        </p:nvSpPr>
        <p:spPr>
          <a:xfrm>
            <a:off x="2430024" y="10675453"/>
            <a:ext cx="20200054" cy="6369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b="1" sz="3600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b="1" sz="3600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b="1" sz="3600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b="1" sz="3600"/>
            </a:lvl5pPr>
          </a:lstStyle>
          <a:p>
            <a:pPr/>
            <a:r>
              <a:t>Attribution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6" name="Body Level One…"/>
          <p:cNvSpPr txBox="1"/>
          <p:nvPr>
            <p:ph type="body" sz="half" idx="21" hasCustomPrompt="1"/>
          </p:nvPr>
        </p:nvSpPr>
        <p:spPr>
          <a:xfrm>
            <a:off x="1753923" y="4939860"/>
            <a:ext cx="20876154" cy="3836281"/>
          </a:xfrm>
          <a:prstGeom prst="rect">
            <a:avLst/>
          </a:prstGeom>
        </p:spPr>
        <p:txBody>
          <a:bodyPr numCol="1" spcCol="38100"/>
          <a:lstStyle>
            <a:lvl1pPr marL="469900" indent="-300876">
              <a:spcBef>
                <a:spcPts val="0"/>
              </a:spcBef>
              <a:buSzTx/>
              <a:buNone/>
              <a:defRPr spc="-20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“Notable Quote”</a:t>
            </a:r>
          </a:p>
        </p:txBody>
      </p:sp>
      <p:sp>
        <p:nvSpPr>
          <p:cNvPr id="1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5" name="Bowl with salmon cakes, salad and houmo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6" name="Bowl of pappardelle pasta with parsley butter, roasted hazelnuts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Level One…"/>
          <p:cNvSpPr txBox="1"/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numCol="2" spcCol="109855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" name="Title Text"/>
          <p:cNvSpPr txBox="1"/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500" y="13080999"/>
            <a:ext cx="368504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3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HOME INSURANCE"/>
          <p:cNvSpPr txBox="1"/>
          <p:nvPr/>
        </p:nvSpPr>
        <p:spPr>
          <a:xfrm>
            <a:off x="1016000" y="1128001"/>
            <a:ext cx="965200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>
                <a:solidFill>
                  <a:srgbClr val="4BA2FF"/>
                </a:solidFill>
              </a:defRPr>
            </a:lvl1pPr>
          </a:lstStyle>
          <a:p>
            <a:pPr/>
            <a:r>
              <a:t>HOME INSURANCE</a:t>
            </a:r>
          </a:p>
        </p:txBody>
      </p:sp>
      <p:sp>
        <p:nvSpPr>
          <p:cNvPr id="172" name="Predicting claim litigation by Day 30"/>
          <p:cNvSpPr txBox="1"/>
          <p:nvPr/>
        </p:nvSpPr>
        <p:spPr>
          <a:xfrm>
            <a:off x="1016000" y="4293160"/>
            <a:ext cx="19050000" cy="1192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7200"/>
            </a:lvl1pPr>
          </a:lstStyle>
          <a:p>
            <a:pPr/>
            <a:r>
              <a:t>Predicting claim litigation by Day 30</a:t>
            </a:r>
          </a:p>
        </p:txBody>
      </p:sp>
      <p:sp>
        <p:nvSpPr>
          <p:cNvPr id="173" name="A leakage-aware model to prioritise earlier human review"/>
          <p:cNvSpPr txBox="1"/>
          <p:nvPr/>
        </p:nvSpPr>
        <p:spPr>
          <a:xfrm>
            <a:off x="1066800" y="6828825"/>
            <a:ext cx="15240000" cy="548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solidFill>
                  <a:srgbClr val="696969"/>
                </a:solidFill>
              </a:defRPr>
            </a:lvl1pPr>
          </a:lstStyle>
          <a:p>
            <a:pPr/>
            <a:r>
              <a:t>A leakage-aware model to prioritise earlier human review</a:t>
            </a:r>
          </a:p>
        </p:txBody>
      </p:sp>
      <p:sp>
        <p:nvSpPr>
          <p:cNvPr id="174" name="1,000 synthetic claims with an out-of-time final test"/>
          <p:cNvSpPr txBox="1"/>
          <p:nvPr/>
        </p:nvSpPr>
        <p:spPr>
          <a:xfrm>
            <a:off x="1066800" y="10770892"/>
            <a:ext cx="1333500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1,000 synthetic claims with an out-of-time final test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ix linked files describe each claim and its early activity"/>
          <p:cNvSpPr txBox="1"/>
          <p:nvPr/>
        </p:nvSpPr>
        <p:spPr>
          <a:xfrm>
            <a:off x="1016000" y="992353"/>
            <a:ext cx="22352000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Six linked files describe each claim and its early activity</a:t>
            </a:r>
          </a:p>
        </p:txBody>
      </p:sp>
      <p:sp>
        <p:nvSpPr>
          <p:cNvPr id="179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180" name="2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81" name="PROBLEM"/>
          <p:cNvSpPr txBox="1"/>
          <p:nvPr/>
        </p:nvSpPr>
        <p:spPr>
          <a:xfrm>
            <a:off x="1015999" y="2976035"/>
            <a:ext cx="6350003" cy="448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PROBLEM</a:t>
            </a:r>
          </a:p>
        </p:txBody>
      </p:sp>
      <p:sp>
        <p:nvSpPr>
          <p:cNvPr id="182" name="Can information known by Day 30 identify claims that later litigate?"/>
          <p:cNvSpPr txBox="1"/>
          <p:nvPr/>
        </p:nvSpPr>
        <p:spPr>
          <a:xfrm>
            <a:off x="1016000" y="3664703"/>
            <a:ext cx="9144000" cy="1079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Can information known by Day 30 identify claims that later litigate?</a:t>
            </a:r>
          </a:p>
        </p:txBody>
      </p:sp>
      <p:sp>
        <p:nvSpPr>
          <p:cNvPr id="183" name="TARGET"/>
          <p:cNvSpPr txBox="1"/>
          <p:nvPr/>
        </p:nvSpPr>
        <p:spPr>
          <a:xfrm>
            <a:off x="1016000" y="7421036"/>
            <a:ext cx="6350000" cy="448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TARGET</a:t>
            </a:r>
          </a:p>
        </p:txBody>
      </p:sp>
      <p:sp>
        <p:nvSpPr>
          <p:cNvPr id="184" name="litigated: 1 = yes, 0 = no"/>
          <p:cNvSpPr txBox="1"/>
          <p:nvPr/>
        </p:nvSpPr>
        <p:spPr>
          <a:xfrm>
            <a:off x="1016000" y="8533207"/>
            <a:ext cx="8255001" cy="52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litigated: 1 = yes, 0 = no</a:t>
            </a:r>
          </a:p>
        </p:txBody>
      </p:sp>
      <p:sp>
        <p:nvSpPr>
          <p:cNvPr id="185" name="15.0% positive class"/>
          <p:cNvSpPr txBox="1"/>
          <p:nvPr/>
        </p:nvSpPr>
        <p:spPr>
          <a:xfrm>
            <a:off x="1016000" y="9637393"/>
            <a:ext cx="7620001" cy="473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solidFill>
                  <a:srgbClr val="696969"/>
                </a:solidFill>
              </a:defRPr>
            </a:lvl1pPr>
          </a:lstStyle>
          <a:p>
            <a:pPr/>
            <a:r>
              <a:t>15.0% positive class</a:t>
            </a:r>
          </a:p>
        </p:txBody>
      </p:sp>
      <p:sp>
        <p:nvSpPr>
          <p:cNvPr id="186" name="1,000"/>
          <p:cNvSpPr txBox="1"/>
          <p:nvPr/>
        </p:nvSpPr>
        <p:spPr>
          <a:xfrm>
            <a:off x="12827000" y="2914106"/>
            <a:ext cx="5080000" cy="10932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6600">
                <a:solidFill>
                  <a:srgbClr val="4BA2FF"/>
                </a:solidFill>
              </a:defRPr>
            </a:lvl1pPr>
          </a:lstStyle>
          <a:p>
            <a:pPr/>
            <a:r>
              <a:t>1,000</a:t>
            </a:r>
          </a:p>
        </p:txBody>
      </p:sp>
      <p:sp>
        <p:nvSpPr>
          <p:cNvPr id="187" name="current claims"/>
          <p:cNvSpPr txBox="1"/>
          <p:nvPr/>
        </p:nvSpPr>
        <p:spPr>
          <a:xfrm>
            <a:off x="12826999" y="4163669"/>
            <a:ext cx="5080002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current claims</a:t>
            </a:r>
          </a:p>
        </p:txBody>
      </p:sp>
      <p:sp>
        <p:nvSpPr>
          <p:cNvPr id="188" name="6 CSV files"/>
          <p:cNvSpPr txBox="1"/>
          <p:nvPr/>
        </p:nvSpPr>
        <p:spPr>
          <a:xfrm>
            <a:off x="18541999" y="3124848"/>
            <a:ext cx="4572003" cy="671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3800"/>
            </a:lvl1pPr>
          </a:lstStyle>
          <a:p>
            <a:pPr/>
            <a:r>
              <a:t>6 CSV files</a:t>
            </a:r>
          </a:p>
        </p:txBody>
      </p:sp>
      <p:sp>
        <p:nvSpPr>
          <p:cNvPr id="189" name="claims and policy details"/>
          <p:cNvSpPr txBox="1"/>
          <p:nvPr/>
        </p:nvSpPr>
        <p:spPr>
          <a:xfrm>
            <a:off x="12827000" y="6017717"/>
            <a:ext cx="8890000" cy="461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claims and policy details</a:t>
            </a:r>
          </a:p>
        </p:txBody>
      </p:sp>
      <p:sp>
        <p:nvSpPr>
          <p:cNvPr id="190" name="third parties and estimates"/>
          <p:cNvSpPr txBox="1"/>
          <p:nvPr/>
        </p:nvSpPr>
        <p:spPr>
          <a:xfrm>
            <a:off x="12827000" y="7033717"/>
            <a:ext cx="8890000" cy="461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third parties and estimates</a:t>
            </a:r>
          </a:p>
        </p:txBody>
      </p:sp>
      <p:sp>
        <p:nvSpPr>
          <p:cNvPr id="191" name="chronological claim notes"/>
          <p:cNvSpPr txBox="1"/>
          <p:nvPr/>
        </p:nvSpPr>
        <p:spPr>
          <a:xfrm>
            <a:off x="12827000" y="8049717"/>
            <a:ext cx="8890000" cy="461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chronological claim notes</a:t>
            </a:r>
          </a:p>
        </p:txBody>
      </p:sp>
      <p:sp>
        <p:nvSpPr>
          <p:cNvPr id="192" name="completed customer history"/>
          <p:cNvSpPr txBox="1"/>
          <p:nvPr/>
        </p:nvSpPr>
        <p:spPr>
          <a:xfrm>
            <a:off x="12827000" y="9065717"/>
            <a:ext cx="8890000" cy="461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completed customer history</a:t>
            </a:r>
          </a:p>
        </p:txBody>
      </p:sp>
      <p:sp>
        <p:nvSpPr>
          <p:cNvPr id="193" name="The claims table supplies one row per current claim; linked records are aggregated before modelling."/>
          <p:cNvSpPr txBox="1"/>
          <p:nvPr/>
        </p:nvSpPr>
        <p:spPr>
          <a:xfrm>
            <a:off x="12827000" y="10476483"/>
            <a:ext cx="9652000" cy="745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The claims table supplies one row per current claim; linked records are aggregated before modelling.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Litigation is uncommon, so ranking quality matters more than accuracy"/>
          <p:cNvSpPr txBox="1"/>
          <p:nvPr/>
        </p:nvSpPr>
        <p:spPr>
          <a:xfrm>
            <a:off x="1016000" y="992353"/>
            <a:ext cx="22352000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Litigation is uncommon, so ranking quality matters more than accuracy</a:t>
            </a:r>
          </a:p>
        </p:txBody>
      </p:sp>
      <p:sp>
        <p:nvSpPr>
          <p:cNvPr id="198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199" name="3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00" name="15.0%"/>
          <p:cNvSpPr txBox="1"/>
          <p:nvPr/>
        </p:nvSpPr>
        <p:spPr>
          <a:xfrm>
            <a:off x="1015999" y="3423580"/>
            <a:ext cx="7620001" cy="1217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7400">
                <a:solidFill>
                  <a:srgbClr val="4BA2FF"/>
                </a:solidFill>
              </a:defRPr>
            </a:lvl1pPr>
          </a:lstStyle>
          <a:p>
            <a:pPr/>
            <a:r>
              <a:t>15.0%</a:t>
            </a:r>
          </a:p>
        </p:txBody>
      </p:sp>
      <p:sp>
        <p:nvSpPr>
          <p:cNvPr id="201" name="150 of 1,000 claims litigated"/>
          <p:cNvSpPr txBox="1"/>
          <p:nvPr/>
        </p:nvSpPr>
        <p:spPr>
          <a:xfrm>
            <a:off x="1066799" y="5085157"/>
            <a:ext cx="7874001" cy="52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150 of 1,000 claims litigated</a:t>
            </a:r>
          </a:p>
        </p:txBody>
      </p:sp>
      <p:sp>
        <p:nvSpPr>
          <p:cNvPr id="202" name="Litigated claims had higher median reserves and prior paid losses. Early complaints and third-party activity also appeared informative."/>
          <p:cNvSpPr txBox="1"/>
          <p:nvPr/>
        </p:nvSpPr>
        <p:spPr>
          <a:xfrm>
            <a:off x="1066800" y="6694530"/>
            <a:ext cx="8255000" cy="1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solidFill>
                  <a:srgbClr val="4F4F4F"/>
                </a:solidFill>
              </a:defRPr>
            </a:lvl1pPr>
          </a:lstStyle>
          <a:p>
            <a:pPr/>
            <a:r>
              <a:t>Litigated claims had higher median reserves and prior paid losses. Early complaints and third-party activity also appeared informative.</a:t>
            </a:r>
          </a:p>
        </p:txBody>
      </p:sp>
      <p:pic>
        <p:nvPicPr>
          <p:cNvPr id="203" name="Bar chart showing 850 non-litigated and 150 litigated claims" descr="Bar chart showing 850 non-litigated and 150 litigated claims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794999" y="2921000"/>
            <a:ext cx="11944351" cy="6705600"/>
          </a:xfrm>
          <a:prstGeom prst="rect">
            <a:avLst/>
          </a:prstGeom>
          <a:ln w="12700">
            <a:miter lim="400000"/>
          </a:ln>
        </p:spPr>
      </p:pic>
      <p:sp>
        <p:nvSpPr>
          <p:cNvPr id="204" name="Average precision is the primary metric because only 15% of claims are positive."/>
          <p:cNvSpPr txBox="1"/>
          <p:nvPr/>
        </p:nvSpPr>
        <p:spPr>
          <a:xfrm>
            <a:off x="10795000" y="10174361"/>
            <a:ext cx="11938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Average precision is the primary metric because only 15% of claims are positive.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Cleaning, preprocessing and leakage controls"/>
          <p:cNvSpPr txBox="1"/>
          <p:nvPr/>
        </p:nvSpPr>
        <p:spPr>
          <a:xfrm>
            <a:off x="1016000" y="992353"/>
            <a:ext cx="22352000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Cleaning, preprocessing and leakage controls</a:t>
            </a:r>
          </a:p>
        </p:txBody>
      </p:sp>
      <p:sp>
        <p:nvSpPr>
          <p:cNvPr id="209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210" name="4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11" name="AUDIT FINDINGS"/>
          <p:cNvSpPr txBox="1"/>
          <p:nvPr/>
        </p:nvSpPr>
        <p:spPr>
          <a:xfrm>
            <a:off x="1016000" y="3007970"/>
            <a:ext cx="6604000" cy="461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>
                <a:solidFill>
                  <a:srgbClr val="4BA2FF"/>
                </a:solidFill>
              </a:defRPr>
            </a:lvl1pPr>
          </a:lstStyle>
          <a:p>
            <a:pPr/>
            <a:r>
              <a:t>AUDIT FINDINGS</a:t>
            </a:r>
          </a:p>
        </p:txBody>
      </p:sp>
      <p:sp>
        <p:nvSpPr>
          <p:cNvPr id="212" name="Keys, duplicates and linked records checked"/>
          <p:cNvSpPr txBox="1"/>
          <p:nvPr/>
        </p:nvSpPr>
        <p:spPr>
          <a:xfrm>
            <a:off x="1016000" y="3927921"/>
            <a:ext cx="6604000" cy="888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Keys, duplicates and linked records checked</a:t>
            </a:r>
          </a:p>
        </p:txBody>
      </p:sp>
      <p:sp>
        <p:nvSpPr>
          <p:cNvPr id="213" name="40 inconsistent history rows flagged and masked"/>
          <p:cNvSpPr txBox="1"/>
          <p:nvPr/>
        </p:nvSpPr>
        <p:spPr>
          <a:xfrm>
            <a:off x="1016000" y="5283908"/>
            <a:ext cx="6604000" cy="88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40 inconsistent history rows flagged and masked</a:t>
            </a:r>
          </a:p>
        </p:txBody>
      </p:sp>
      <p:sp>
        <p:nvSpPr>
          <p:cNvPr id="214" name="High claim amounts retained after range and plausibility review"/>
          <p:cNvSpPr txBox="1"/>
          <p:nvPr/>
        </p:nvSpPr>
        <p:spPr>
          <a:xfrm>
            <a:off x="1016000" y="6998407"/>
            <a:ext cx="6604000" cy="88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High claim amounts retained after range and plausibility review</a:t>
            </a:r>
          </a:p>
        </p:txBody>
      </p:sp>
      <p:sp>
        <p:nvSpPr>
          <p:cNvPr id="215" name="CLAIM-LEVEL DATA"/>
          <p:cNvSpPr txBox="1"/>
          <p:nvPr/>
        </p:nvSpPr>
        <p:spPr>
          <a:xfrm>
            <a:off x="8890000" y="3007970"/>
            <a:ext cx="6604000" cy="461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>
                <a:solidFill>
                  <a:srgbClr val="4BA2FF"/>
                </a:solidFill>
              </a:defRPr>
            </a:lvl1pPr>
          </a:lstStyle>
          <a:p>
            <a:pPr/>
            <a:r>
              <a:t>CLAIM-LEVEL DATA</a:t>
            </a:r>
          </a:p>
        </p:txBody>
      </p:sp>
      <p:sp>
        <p:nvSpPr>
          <p:cNvPr id="216" name="Dates parsed and Day-30 cutoff applied"/>
          <p:cNvSpPr txBox="1"/>
          <p:nvPr/>
        </p:nvSpPr>
        <p:spPr>
          <a:xfrm>
            <a:off x="8890000" y="4117013"/>
            <a:ext cx="6604000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Dates parsed and Day-30 cutoff applied</a:t>
            </a:r>
          </a:p>
        </p:txBody>
      </p:sp>
      <p:sp>
        <p:nvSpPr>
          <p:cNvPr id="217" name="One-to-many tables aggregated before joining"/>
          <p:cNvSpPr txBox="1"/>
          <p:nvPr/>
        </p:nvSpPr>
        <p:spPr>
          <a:xfrm>
            <a:off x="8890000" y="5283908"/>
            <a:ext cx="6604000" cy="88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One-to-many tables aggregated before joining</a:t>
            </a:r>
          </a:p>
        </p:txBody>
      </p:sp>
      <p:sp>
        <p:nvSpPr>
          <p:cNvPr id="218" name="One row retained for each of 1,000 claims"/>
          <p:cNvSpPr txBox="1"/>
          <p:nvPr/>
        </p:nvSpPr>
        <p:spPr>
          <a:xfrm>
            <a:off x="8890000" y="7355341"/>
            <a:ext cx="6604000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One row retained for each of 1,000 claims</a:t>
            </a:r>
          </a:p>
        </p:txBody>
      </p:sp>
      <p:sp>
        <p:nvSpPr>
          <p:cNvPr id="219" name="TRAINING PIPELINE"/>
          <p:cNvSpPr txBox="1"/>
          <p:nvPr/>
        </p:nvSpPr>
        <p:spPr>
          <a:xfrm>
            <a:off x="16764000" y="3007970"/>
            <a:ext cx="6604000" cy="461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>
                <a:solidFill>
                  <a:srgbClr val="4BA2FF"/>
                </a:solidFill>
              </a:defRPr>
            </a:lvl1pPr>
          </a:lstStyle>
          <a:p>
            <a:pPr/>
            <a:r>
              <a:t>TRAINING PIPELINE</a:t>
            </a:r>
          </a:p>
        </p:txBody>
      </p:sp>
      <p:sp>
        <p:nvSpPr>
          <p:cNvPr id="220" name="Median numeric imputation and scaling"/>
          <p:cNvSpPr txBox="1"/>
          <p:nvPr/>
        </p:nvSpPr>
        <p:spPr>
          <a:xfrm>
            <a:off x="16763998" y="4117013"/>
            <a:ext cx="6604002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Median numeric imputation and scaling</a:t>
            </a:r>
          </a:p>
        </p:txBody>
      </p:sp>
      <p:sp>
        <p:nvSpPr>
          <p:cNvPr id="221" name="Most-frequent categorical imputation and one-hot encoding"/>
          <p:cNvSpPr txBox="1"/>
          <p:nvPr/>
        </p:nvSpPr>
        <p:spPr>
          <a:xfrm>
            <a:off x="16764000" y="5379158"/>
            <a:ext cx="6604001" cy="88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Most-frequent categorical imputation and one-hot encoding</a:t>
            </a:r>
          </a:p>
        </p:txBody>
      </p:sp>
      <p:sp>
        <p:nvSpPr>
          <p:cNvPr id="222" name="All preprocessing fitted inside each training pipeline"/>
          <p:cNvSpPr txBox="1"/>
          <p:nvPr/>
        </p:nvSpPr>
        <p:spPr>
          <a:xfrm>
            <a:off x="16763998" y="7061907"/>
            <a:ext cx="6604002" cy="88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All preprocessing fitted inside each training pipeline</a:t>
            </a:r>
          </a:p>
        </p:txBody>
      </p:sp>
      <p:sp>
        <p:nvSpPr>
          <p:cNvPr id="223" name="Excluded from modelling"/>
          <p:cNvSpPr txBox="1"/>
          <p:nvPr/>
        </p:nvSpPr>
        <p:spPr>
          <a:xfrm>
            <a:off x="1015999" y="9723695"/>
            <a:ext cx="4445003" cy="473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500"/>
            </a:lvl1pPr>
          </a:lstStyle>
          <a:p>
            <a:pPr/>
            <a:r>
              <a:t>Excluded from modelling</a:t>
            </a:r>
          </a:p>
        </p:txBody>
      </p:sp>
      <p:sp>
        <p:nvSpPr>
          <p:cNvPr id="224" name="Post-cutoff activity, legal and payment signals, raw note text, identifiers and precise locations"/>
          <p:cNvSpPr txBox="1"/>
          <p:nvPr/>
        </p:nvSpPr>
        <p:spPr>
          <a:xfrm>
            <a:off x="5588000" y="10305040"/>
            <a:ext cx="17018000" cy="535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9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Post-cutoff activity, legal and payment signals, raw note text, identifiers and precise locations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Executed AI-agent analysis of Day-30 claim notes"/>
          <p:cNvSpPr txBox="1"/>
          <p:nvPr/>
        </p:nvSpPr>
        <p:spPr>
          <a:xfrm>
            <a:off x="1015999" y="992353"/>
            <a:ext cx="22352004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Executed AI-agent analysis of Day-30 claim notes</a:t>
            </a:r>
          </a:p>
        </p:txBody>
      </p:sp>
      <p:sp>
        <p:nvSpPr>
          <p:cNvPr id="229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230" name="5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31" name="26"/>
          <p:cNvSpPr txBox="1"/>
          <p:nvPr/>
        </p:nvSpPr>
        <p:spPr>
          <a:xfrm>
            <a:off x="1016000" y="3072120"/>
            <a:ext cx="3810000" cy="10312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6200">
                <a:solidFill>
                  <a:srgbClr val="4BA2FF"/>
                </a:solidFill>
              </a:defRPr>
            </a:lvl1pPr>
          </a:lstStyle>
          <a:p>
            <a:pPr/>
            <a:r>
              <a:t>26</a:t>
            </a:r>
          </a:p>
        </p:txBody>
      </p:sp>
      <p:sp>
        <p:nvSpPr>
          <p:cNvPr id="232" name="notes reviewed"/>
          <p:cNvSpPr txBox="1"/>
          <p:nvPr/>
        </p:nvSpPr>
        <p:spPr>
          <a:xfrm>
            <a:off x="1041400" y="4291038"/>
            <a:ext cx="4826000" cy="498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notes reviewed</a:t>
            </a:r>
          </a:p>
        </p:txBody>
      </p:sp>
      <p:sp>
        <p:nvSpPr>
          <p:cNvPr id="233" name="13"/>
          <p:cNvSpPr txBox="1"/>
          <p:nvPr/>
        </p:nvSpPr>
        <p:spPr>
          <a:xfrm>
            <a:off x="1016000" y="5548619"/>
            <a:ext cx="3810000" cy="1031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6200"/>
            </a:lvl1pPr>
          </a:lstStyle>
          <a:p>
            <a:pPr/>
            <a:r>
              <a:t>13</a:t>
            </a:r>
          </a:p>
        </p:txBody>
      </p:sp>
      <p:sp>
        <p:nvSpPr>
          <p:cNvPr id="234" name="source note types"/>
          <p:cNvSpPr txBox="1"/>
          <p:nvPr/>
        </p:nvSpPr>
        <p:spPr>
          <a:xfrm>
            <a:off x="1041399" y="6767538"/>
            <a:ext cx="5334003" cy="498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source note types</a:t>
            </a:r>
          </a:p>
        </p:txBody>
      </p:sp>
      <p:sp>
        <p:nvSpPr>
          <p:cNvPr id="235" name="Method"/>
          <p:cNvSpPr txBox="1"/>
          <p:nvPr/>
        </p:nvSpPr>
        <p:spPr>
          <a:xfrm>
            <a:off x="1016000" y="7922869"/>
            <a:ext cx="3175001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/>
            </a:lvl1pPr>
          </a:lstStyle>
          <a:p>
            <a:pPr/>
            <a:r>
              <a:t>Method</a:t>
            </a:r>
          </a:p>
        </p:txBody>
      </p:sp>
      <p:sp>
        <p:nvSpPr>
          <p:cNvPr id="236" name="Two fixed notes per type"/>
          <p:cNvSpPr txBox="1"/>
          <p:nvPr/>
        </p:nvSpPr>
        <p:spPr>
          <a:xfrm>
            <a:off x="1016000" y="8682135"/>
            <a:ext cx="6350000" cy="473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solidFill>
                  <a:srgbClr val="4F4F4F"/>
                </a:solidFill>
              </a:defRPr>
            </a:lvl1pPr>
          </a:lstStyle>
          <a:p>
            <a:pPr/>
            <a:r>
              <a:t>Two fixed notes per type</a:t>
            </a:r>
          </a:p>
        </p:txBody>
      </p:sp>
      <p:sp>
        <p:nvSpPr>
          <p:cNvPr id="237" name="Annotated from supplied note text"/>
          <p:cNvSpPr txBox="1"/>
          <p:nvPr/>
        </p:nvSpPr>
        <p:spPr>
          <a:xfrm>
            <a:off x="1016000" y="9444135"/>
            <a:ext cx="6350000" cy="473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solidFill>
                  <a:srgbClr val="4F4F4F"/>
                </a:solidFill>
              </a:defRPr>
            </a:lvl1pPr>
          </a:lstStyle>
          <a:p>
            <a:pPr/>
            <a:r>
              <a:t>Annotated from supplied note text</a:t>
            </a:r>
          </a:p>
        </p:txBody>
      </p:sp>
      <p:sp>
        <p:nvSpPr>
          <p:cNvPr id="238" name="Saved in agent_note_review.csv"/>
          <p:cNvSpPr txBox="1"/>
          <p:nvPr/>
        </p:nvSpPr>
        <p:spPr>
          <a:xfrm>
            <a:off x="1016000" y="10206135"/>
            <a:ext cx="6350000" cy="473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solidFill>
                  <a:srgbClr val="4F4F4F"/>
                </a:solidFill>
              </a:defRPr>
            </a:lvl1pPr>
          </a:lstStyle>
          <a:p>
            <a:pPr/>
            <a:r>
              <a:t>Saved in agent_note_review.csv</a:t>
            </a:r>
          </a:p>
        </p:txBody>
      </p:sp>
      <p:sp>
        <p:nvSpPr>
          <p:cNvPr id="239" name="ROUTINE THEMES"/>
          <p:cNvSpPr txBox="1"/>
          <p:nvPr/>
        </p:nvSpPr>
        <p:spPr>
          <a:xfrm>
            <a:off x="8636000" y="3007970"/>
            <a:ext cx="5969000" cy="461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>
                <a:solidFill>
                  <a:srgbClr val="4BA2FF"/>
                </a:solidFill>
              </a:defRPr>
            </a:lvl1pPr>
          </a:lstStyle>
          <a:p>
            <a:pPr/>
            <a:r>
              <a:t>ROUTINE THEMES</a:t>
            </a:r>
          </a:p>
        </p:txBody>
      </p:sp>
      <p:sp>
        <p:nvSpPr>
          <p:cNvPr id="240" name="Claim triage and coverage review"/>
          <p:cNvSpPr txBox="1"/>
          <p:nvPr/>
        </p:nvSpPr>
        <p:spPr>
          <a:xfrm>
            <a:off x="8636000" y="4085263"/>
            <a:ext cx="6350000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Claim triage and coverage review</a:t>
            </a:r>
          </a:p>
        </p:txBody>
      </p:sp>
      <p:sp>
        <p:nvSpPr>
          <p:cNvPr id="241" name="Inspections, estimates and investigation"/>
          <p:cNvSpPr txBox="1"/>
          <p:nvPr/>
        </p:nvSpPr>
        <p:spPr>
          <a:xfrm>
            <a:off x="8636000" y="5640842"/>
            <a:ext cx="6350000" cy="511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Inspections, estimates and investigation</a:t>
            </a:r>
          </a:p>
        </p:txBody>
      </p:sp>
      <p:sp>
        <p:nvSpPr>
          <p:cNvPr id="242" name="Customer contact and document collection"/>
          <p:cNvSpPr txBox="1"/>
          <p:nvPr/>
        </p:nvSpPr>
        <p:spPr>
          <a:xfrm>
            <a:off x="8636000" y="7039267"/>
            <a:ext cx="6350000" cy="88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Customer contact and document collection</a:t>
            </a:r>
          </a:p>
        </p:txBody>
      </p:sp>
      <p:sp>
        <p:nvSpPr>
          <p:cNvPr id="243" name="Retain transparent activity counts only"/>
          <p:cNvSpPr txBox="1"/>
          <p:nvPr/>
        </p:nvSpPr>
        <p:spPr>
          <a:xfrm>
            <a:off x="8636000" y="9197013"/>
            <a:ext cx="6350000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Retain transparent activity counts only</a:t>
            </a:r>
          </a:p>
        </p:txBody>
      </p:sp>
      <p:sp>
        <p:nvSpPr>
          <p:cNvPr id="244" name="LEAKAGE FINDINGS"/>
          <p:cNvSpPr txBox="1"/>
          <p:nvPr/>
        </p:nvSpPr>
        <p:spPr>
          <a:xfrm>
            <a:off x="16256000" y="3007970"/>
            <a:ext cx="6604001" cy="461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>
                <a:solidFill>
                  <a:srgbClr val="4BA2FF"/>
                </a:solidFill>
              </a:defRPr>
            </a:lvl1pPr>
          </a:lstStyle>
          <a:p>
            <a:pPr/>
            <a:r>
              <a:t>LEAKAGE FINDINGS</a:t>
            </a:r>
          </a:p>
        </p:txBody>
      </p:sp>
      <p:sp>
        <p:nvSpPr>
          <p:cNvPr id="245" name="Legal, payment and manager-review text can reveal outcomes"/>
          <p:cNvSpPr txBox="1"/>
          <p:nvPr/>
        </p:nvSpPr>
        <p:spPr>
          <a:xfrm>
            <a:off x="16256000" y="3728313"/>
            <a:ext cx="6604000" cy="888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Legal, payment and manager-review text can reveal outcomes</a:t>
            </a:r>
          </a:p>
        </p:txBody>
      </p:sp>
      <p:sp>
        <p:nvSpPr>
          <p:cNvPr id="246" name="1,865 of 29,618 Day-30 notes excluded"/>
          <p:cNvSpPr txBox="1"/>
          <p:nvPr/>
        </p:nvSpPr>
        <p:spPr>
          <a:xfrm>
            <a:off x="16256000" y="6039158"/>
            <a:ext cx="6604000" cy="984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3000"/>
            </a:lvl1pPr>
          </a:lstStyle>
          <a:p>
            <a:pPr/>
            <a:r>
              <a:t>1,865 of 29,618 Day-30 notes excluded</a:t>
            </a:r>
          </a:p>
        </p:txBody>
      </p:sp>
      <p:sp>
        <p:nvSpPr>
          <p:cNvPr id="247" name="6.3% of the Day-30 corpus"/>
          <p:cNvSpPr txBox="1"/>
          <p:nvPr/>
        </p:nvSpPr>
        <p:spPr>
          <a:xfrm>
            <a:off x="16255998" y="7266264"/>
            <a:ext cx="6604002" cy="498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4F4F4F"/>
                </a:solidFill>
              </a:defRPr>
            </a:lvl1pPr>
          </a:lstStyle>
          <a:p>
            <a:pPr/>
            <a:r>
              <a:t>6.3% of the Day-30 corpus</a:t>
            </a:r>
          </a:p>
        </p:txBody>
      </p:sp>
      <p:sp>
        <p:nvSpPr>
          <p:cNvPr id="248" name="100%"/>
          <p:cNvSpPr txBox="1"/>
          <p:nvPr/>
        </p:nvSpPr>
        <p:spPr>
          <a:xfrm>
            <a:off x="16255998" y="8950377"/>
            <a:ext cx="3810002" cy="8952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5200">
                <a:solidFill>
                  <a:srgbClr val="4BA2FF"/>
                </a:solidFill>
              </a:defRPr>
            </a:lvl1pPr>
          </a:lstStyle>
          <a:p>
            <a:pPr/>
            <a:r>
              <a:t>100%</a:t>
            </a:r>
          </a:p>
        </p:txBody>
      </p:sp>
      <p:sp>
        <p:nvSpPr>
          <p:cNvPr id="249" name="agreement with the metadata policy"/>
          <p:cNvSpPr txBox="1"/>
          <p:nvPr/>
        </p:nvSpPr>
        <p:spPr>
          <a:xfrm>
            <a:off x="16256000" y="9825111"/>
            <a:ext cx="6604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agreement with the metadata policy</a:t>
            </a:r>
          </a:p>
        </p:txBody>
      </p:sp>
      <p:sp>
        <p:nvSpPr>
          <p:cNvPr id="250" name="Agreement is a quality check on this small synthetic sample, not predictive validation."/>
          <p:cNvSpPr txBox="1"/>
          <p:nvPr/>
        </p:nvSpPr>
        <p:spPr>
          <a:xfrm>
            <a:off x="1016000" y="11101130"/>
            <a:ext cx="21590000" cy="4490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696969"/>
                </a:solidFill>
              </a:defRPr>
            </a:lvl1pPr>
          </a:lstStyle>
          <a:p>
            <a:pPr/>
            <a:r>
              <a:t>Agreement is a quality check on this small synthetic sample, not predictive validation.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hree engineered features add timing, change and history"/>
          <p:cNvSpPr txBox="1"/>
          <p:nvPr/>
        </p:nvSpPr>
        <p:spPr>
          <a:xfrm>
            <a:off x="1016000" y="992353"/>
            <a:ext cx="22352000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Three engineered features add timing, change and history</a:t>
            </a:r>
          </a:p>
        </p:txBody>
      </p:sp>
      <p:sp>
        <p:nvSpPr>
          <p:cNvPr id="255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256" name="6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257" name="REPORTING DELAY"/>
          <p:cNvSpPr txBox="1"/>
          <p:nvPr/>
        </p:nvSpPr>
        <p:spPr>
          <a:xfrm>
            <a:off x="1016000" y="3007970"/>
            <a:ext cx="6604001" cy="461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>
                <a:solidFill>
                  <a:srgbClr val="4BA2FF"/>
                </a:solidFill>
              </a:defRPr>
            </a:lvl1pPr>
          </a:lstStyle>
          <a:p>
            <a:pPr/>
            <a:r>
              <a:t>REPORTING DELAY</a:t>
            </a:r>
          </a:p>
        </p:txBody>
      </p:sp>
      <p:sp>
        <p:nvSpPr>
          <p:cNvPr id="258" name="report date minus loss date"/>
          <p:cNvSpPr txBox="1"/>
          <p:nvPr/>
        </p:nvSpPr>
        <p:spPr>
          <a:xfrm>
            <a:off x="1016000" y="4015597"/>
            <a:ext cx="6604000" cy="5230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report date minus loss date</a:t>
            </a:r>
          </a:p>
        </p:txBody>
      </p:sp>
      <p:sp>
        <p:nvSpPr>
          <p:cNvPr id="259" name="Longer delays may complicate evidence collection and customer contact."/>
          <p:cNvSpPr txBox="1"/>
          <p:nvPr/>
        </p:nvSpPr>
        <p:spPr>
          <a:xfrm>
            <a:off x="1016000" y="5052550"/>
            <a:ext cx="6604000" cy="88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Longer delays may complicate evidence collection and customer contact.</a:t>
            </a:r>
          </a:p>
        </p:txBody>
      </p:sp>
      <p:sp>
        <p:nvSpPr>
          <p:cNvPr id="260" name="MAXIMUM ESTIMATE DIFFERENCE"/>
          <p:cNvSpPr txBox="1"/>
          <p:nvPr/>
        </p:nvSpPr>
        <p:spPr>
          <a:xfrm>
            <a:off x="8890000" y="2840111"/>
            <a:ext cx="6604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>
                <a:solidFill>
                  <a:srgbClr val="4BA2FF"/>
                </a:solidFill>
              </a:defRPr>
            </a:lvl1pPr>
          </a:lstStyle>
          <a:p>
            <a:pPr/>
            <a:r>
              <a:t>MAXIMUM ESTIMATE DIFFERENCE</a:t>
            </a:r>
          </a:p>
        </p:txBody>
      </p:sp>
      <p:sp>
        <p:nvSpPr>
          <p:cNvPr id="261" name="largest Day-30 estimate minus initial estimate"/>
          <p:cNvSpPr txBox="1"/>
          <p:nvPr/>
        </p:nvSpPr>
        <p:spPr>
          <a:xfrm>
            <a:off x="8890000" y="3947772"/>
            <a:ext cx="6604000" cy="912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largest Day-30 estimate minus initial estimate</a:t>
            </a:r>
          </a:p>
        </p:txBody>
      </p:sp>
      <p:sp>
        <p:nvSpPr>
          <p:cNvPr id="262" name="A widening estimate can signal early scope disagreement or complexity."/>
          <p:cNvSpPr txBox="1"/>
          <p:nvPr/>
        </p:nvSpPr>
        <p:spPr>
          <a:xfrm>
            <a:off x="8890000" y="5306550"/>
            <a:ext cx="6604000" cy="88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A widening estimate can signal early scope disagreement or complexity.</a:t>
            </a:r>
          </a:p>
        </p:txBody>
      </p:sp>
      <p:sp>
        <p:nvSpPr>
          <p:cNvPr id="263" name="PRIOR LITIGATION RATE"/>
          <p:cNvSpPr txBox="1"/>
          <p:nvPr/>
        </p:nvSpPr>
        <p:spPr>
          <a:xfrm>
            <a:off x="16764000" y="2681361"/>
            <a:ext cx="6604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>
                <a:solidFill>
                  <a:srgbClr val="4BA2FF"/>
                </a:solidFill>
              </a:defRPr>
            </a:lvl1pPr>
          </a:lstStyle>
          <a:p>
            <a:pPr/>
            <a:r>
              <a:t>PRIOR LITIGATION RATE</a:t>
            </a:r>
          </a:p>
        </p:txBody>
      </p:sp>
      <p:sp>
        <p:nvSpPr>
          <p:cNvPr id="264" name="prior litigated claims divided by prior claims"/>
          <p:cNvSpPr txBox="1"/>
          <p:nvPr/>
        </p:nvSpPr>
        <p:spPr>
          <a:xfrm>
            <a:off x="16763998" y="3947772"/>
            <a:ext cx="6604002" cy="912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prior litigated claims divided by prior claims</a:t>
            </a:r>
          </a:p>
        </p:txBody>
      </p:sp>
      <p:sp>
        <p:nvSpPr>
          <p:cNvPr id="265" name="The rate normalises history; invalid counts and zero denominators become missing."/>
          <p:cNvSpPr txBox="1"/>
          <p:nvPr/>
        </p:nvSpPr>
        <p:spPr>
          <a:xfrm>
            <a:off x="16763998" y="5401800"/>
            <a:ext cx="6604002" cy="88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F4F4F"/>
                </a:solidFill>
              </a:defRPr>
            </a:lvl1pPr>
          </a:lstStyle>
          <a:p>
            <a:pPr/>
            <a:r>
              <a:t>The rate normalises history; invalid counts and zero denominators become missing.</a:t>
            </a:r>
          </a:p>
        </p:txBody>
      </p:sp>
      <p:sp>
        <p:nvSpPr>
          <p:cNvPr id="266" name="Original inputs retained"/>
          <p:cNvSpPr txBox="1"/>
          <p:nvPr/>
        </p:nvSpPr>
        <p:spPr>
          <a:xfrm>
            <a:off x="1015998" y="8586861"/>
            <a:ext cx="5080003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/>
            </a:lvl1pPr>
          </a:lstStyle>
          <a:p>
            <a:pPr/>
            <a:r>
              <a:t>Original inputs retained</a:t>
            </a:r>
          </a:p>
        </p:txBody>
      </p:sp>
      <p:sp>
        <p:nvSpPr>
          <p:cNvPr id="267" name="Claim scale, coverage, property condition and prior history provide context that the engineered features do not replace."/>
          <p:cNvSpPr txBox="1"/>
          <p:nvPr/>
        </p:nvSpPr>
        <p:spPr>
          <a:xfrm>
            <a:off x="1016000" y="9288533"/>
            <a:ext cx="9906000" cy="8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solidFill>
                  <a:srgbClr val="4F4F4F"/>
                </a:solidFill>
              </a:defRPr>
            </a:lvl1pPr>
          </a:lstStyle>
          <a:p>
            <a:pPr/>
            <a:r>
              <a:t>Claim scale, coverage, property condition and prior history provide context that the engineered features do not replace.</a:t>
            </a:r>
          </a:p>
        </p:txBody>
      </p:sp>
      <p:sp>
        <p:nvSpPr>
          <p:cNvPr id="268" name="Inputs excluded"/>
          <p:cNvSpPr txBox="1"/>
          <p:nvPr/>
        </p:nvSpPr>
        <p:spPr>
          <a:xfrm>
            <a:off x="12826999" y="8586861"/>
            <a:ext cx="4191002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/>
            </a:lvl1pPr>
          </a:lstStyle>
          <a:p>
            <a:pPr/>
            <a:r>
              <a:t>Inputs excluded</a:t>
            </a:r>
          </a:p>
        </p:txBody>
      </p:sp>
      <p:sp>
        <p:nvSpPr>
          <p:cNvPr id="269" name="Identifiers, addresses, raw dates, raw note text and outcome-adjacent activity reduce privacy or leakage risk."/>
          <p:cNvSpPr txBox="1"/>
          <p:nvPr/>
        </p:nvSpPr>
        <p:spPr>
          <a:xfrm>
            <a:off x="12826999" y="9288533"/>
            <a:ext cx="9906002" cy="8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solidFill>
                  <a:srgbClr val="4F4F4F"/>
                </a:solidFill>
              </a:defRPr>
            </a:lvl1pPr>
          </a:lstStyle>
          <a:p>
            <a:pPr/>
            <a:r>
              <a:t>Identifiers, addresses, raw dates, raw note text and outcome-adjacent activity reduce privacy or leakage risk.</a:t>
            </a:r>
          </a:p>
        </p:txBody>
      </p:sp>
      <p:sp>
        <p:nvSpPr>
          <p:cNvPr id="270" name="Final matrix: 55 predictors, including 48 numeric and 7 categorical"/>
          <p:cNvSpPr txBox="1"/>
          <p:nvPr/>
        </p:nvSpPr>
        <p:spPr>
          <a:xfrm>
            <a:off x="1016000" y="11523873"/>
            <a:ext cx="19050000" cy="510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Final matrix: 55 predictors, including 48 numeric and 7 categorical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A chronological design compares simple, interpretable and nonlinear models"/>
          <p:cNvSpPr txBox="1"/>
          <p:nvPr/>
        </p:nvSpPr>
        <p:spPr>
          <a:xfrm>
            <a:off x="1015999" y="992353"/>
            <a:ext cx="22352004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A chronological design compares simple, interpretable and nonlinear models</a:t>
            </a:r>
          </a:p>
        </p:txBody>
      </p:sp>
      <p:sp>
        <p:nvSpPr>
          <p:cNvPr id="275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276" name="7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277" name="ALGORITHMS"/>
          <p:cNvSpPr txBox="1"/>
          <p:nvPr/>
        </p:nvSpPr>
        <p:spPr>
          <a:xfrm>
            <a:off x="1016000" y="3103035"/>
            <a:ext cx="6350000" cy="448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ALGORITHMS</a:t>
            </a:r>
          </a:p>
        </p:txBody>
      </p:sp>
      <p:sp>
        <p:nvSpPr>
          <p:cNvPr id="278" name="Prior-probability baseline"/>
          <p:cNvSpPr txBox="1"/>
          <p:nvPr/>
        </p:nvSpPr>
        <p:spPr>
          <a:xfrm>
            <a:off x="1016000" y="4085080"/>
            <a:ext cx="6350000" cy="498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Prior-probability baseline</a:t>
            </a:r>
          </a:p>
        </p:txBody>
      </p:sp>
      <p:sp>
        <p:nvSpPr>
          <p:cNvPr id="279" name="Logistic regression"/>
          <p:cNvSpPr txBox="1"/>
          <p:nvPr/>
        </p:nvSpPr>
        <p:spPr>
          <a:xfrm>
            <a:off x="1016000" y="5554521"/>
            <a:ext cx="6350000" cy="498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4F4F4F"/>
                </a:solidFill>
              </a:defRPr>
            </a:lvl1pPr>
          </a:lstStyle>
          <a:p>
            <a:pPr/>
            <a:r>
              <a:t>Logistic regression</a:t>
            </a:r>
          </a:p>
        </p:txBody>
      </p:sp>
      <p:sp>
        <p:nvSpPr>
          <p:cNvPr id="280" name="Random forest"/>
          <p:cNvSpPr txBox="1"/>
          <p:nvPr/>
        </p:nvSpPr>
        <p:spPr>
          <a:xfrm>
            <a:off x="1016000" y="6697522"/>
            <a:ext cx="6350000" cy="498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4F4F4F"/>
                </a:solidFill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281" name="TIME SPLIT"/>
          <p:cNvSpPr txBox="1"/>
          <p:nvPr/>
        </p:nvSpPr>
        <p:spPr>
          <a:xfrm>
            <a:off x="8889999" y="3103035"/>
            <a:ext cx="6350003" cy="448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TIME SPLIT</a:t>
            </a:r>
          </a:p>
        </p:txBody>
      </p:sp>
      <p:sp>
        <p:nvSpPr>
          <p:cNvPr id="282" name="Train: 2022–2023"/>
          <p:cNvSpPr txBox="1"/>
          <p:nvPr/>
        </p:nvSpPr>
        <p:spPr>
          <a:xfrm>
            <a:off x="8890000" y="4411688"/>
            <a:ext cx="6350000" cy="498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Train: 2022–2023</a:t>
            </a:r>
          </a:p>
        </p:txBody>
      </p:sp>
      <p:sp>
        <p:nvSpPr>
          <p:cNvPr id="283" name="Validate and tune: 2024"/>
          <p:cNvSpPr txBox="1"/>
          <p:nvPr/>
        </p:nvSpPr>
        <p:spPr>
          <a:xfrm>
            <a:off x="8890000" y="5227913"/>
            <a:ext cx="6350000" cy="498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4F4F4F"/>
                </a:solidFill>
              </a:defRPr>
            </a:lvl1pPr>
          </a:lstStyle>
          <a:p>
            <a:pPr/>
            <a:r>
              <a:t>Validate and tune: 2024</a:t>
            </a:r>
          </a:p>
        </p:txBody>
      </p:sp>
      <p:sp>
        <p:nvSpPr>
          <p:cNvPr id="284" name="Final test: 2025 onwards"/>
          <p:cNvSpPr txBox="1"/>
          <p:nvPr/>
        </p:nvSpPr>
        <p:spPr>
          <a:xfrm>
            <a:off x="8890000" y="6370913"/>
            <a:ext cx="6350000" cy="498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4F4F4F"/>
                </a:solidFill>
              </a:defRPr>
            </a:lvl1pPr>
          </a:lstStyle>
          <a:p>
            <a:pPr/>
            <a:r>
              <a:t>Final test: 2025 onwards</a:t>
            </a:r>
          </a:p>
        </p:txBody>
      </p:sp>
      <p:sp>
        <p:nvSpPr>
          <p:cNvPr id="285" name="IMBALANCE &amp; TUNING"/>
          <p:cNvSpPr txBox="1"/>
          <p:nvPr/>
        </p:nvSpPr>
        <p:spPr>
          <a:xfrm>
            <a:off x="16763998" y="2776428"/>
            <a:ext cx="6350002" cy="448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IMBALANCE &amp; TUNING</a:t>
            </a:r>
          </a:p>
        </p:txBody>
      </p:sp>
      <p:sp>
        <p:nvSpPr>
          <p:cNvPr id="286" name="Balanced class weights"/>
          <p:cNvSpPr txBox="1"/>
          <p:nvPr/>
        </p:nvSpPr>
        <p:spPr>
          <a:xfrm>
            <a:off x="16764000" y="4085080"/>
            <a:ext cx="5715000" cy="4984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Balanced class weights</a:t>
            </a:r>
          </a:p>
        </p:txBody>
      </p:sp>
      <p:sp>
        <p:nvSpPr>
          <p:cNvPr id="287" name="Logistic C: 0.1, 1, 10"/>
          <p:cNvSpPr txBox="1"/>
          <p:nvPr/>
        </p:nvSpPr>
        <p:spPr>
          <a:xfrm>
            <a:off x="16764000" y="5227913"/>
            <a:ext cx="5715000" cy="498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4F4F4F"/>
                </a:solidFill>
              </a:defRPr>
            </a:lvl1pPr>
          </a:lstStyle>
          <a:p>
            <a:pPr/>
            <a:r>
              <a:t>Logistic C: 0.1, 1, 10</a:t>
            </a:r>
          </a:p>
        </p:txBody>
      </p:sp>
      <p:sp>
        <p:nvSpPr>
          <p:cNvPr id="288" name="Four forest complexity settings"/>
          <p:cNvSpPr txBox="1"/>
          <p:nvPr/>
        </p:nvSpPr>
        <p:spPr>
          <a:xfrm>
            <a:off x="16764000" y="6504264"/>
            <a:ext cx="5715000" cy="498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4F4F4F"/>
                </a:solidFill>
              </a:defRPr>
            </a:lvl1pPr>
          </a:lstStyle>
          <a:p>
            <a:pPr/>
            <a:r>
              <a:t>Four forest complexity settings</a:t>
            </a:r>
          </a:p>
        </p:txBody>
      </p:sp>
      <p:sp>
        <p:nvSpPr>
          <p:cNvPr id="289" name="Balanced weights increase minority-class influence"/>
          <p:cNvSpPr txBox="1"/>
          <p:nvPr/>
        </p:nvSpPr>
        <p:spPr>
          <a:xfrm>
            <a:off x="16763998" y="7254943"/>
            <a:ext cx="6350002" cy="7698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696969"/>
                </a:solidFill>
              </a:defRPr>
            </a:lvl1pPr>
          </a:lstStyle>
          <a:p>
            <a:pPr/>
            <a:r>
              <a:t>Balanced weights increase minority-class influence</a:t>
            </a:r>
          </a:p>
        </p:txBody>
      </p:sp>
      <p:sp>
        <p:nvSpPr>
          <p:cNvPr id="290" name="without resampling or changing validation prevalence."/>
          <p:cNvSpPr txBox="1"/>
          <p:nvPr/>
        </p:nvSpPr>
        <p:spPr>
          <a:xfrm>
            <a:off x="16764000" y="8105843"/>
            <a:ext cx="6350000" cy="7698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solidFill>
                  <a:srgbClr val="696969"/>
                </a:solidFill>
              </a:defRPr>
            </a:lvl1pPr>
          </a:lstStyle>
          <a:p>
            <a:pPr/>
            <a:r>
              <a:t>without resampling or changing validation prevalence.</a:t>
            </a:r>
          </a:p>
        </p:txBody>
      </p:sp>
      <p:sp>
        <p:nvSpPr>
          <p:cNvPr id="291" name="Primary selection metric: validation average precision"/>
          <p:cNvSpPr txBox="1"/>
          <p:nvPr/>
        </p:nvSpPr>
        <p:spPr>
          <a:xfrm>
            <a:off x="1015999" y="9603967"/>
            <a:ext cx="11430003" cy="560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30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Primary selection metric: validation average precision</a:t>
            </a:r>
          </a:p>
        </p:txBody>
      </p:sp>
      <p:sp>
        <p:nvSpPr>
          <p:cNvPr id="292" name="The final test was used once after the model and threshold were frozen."/>
          <p:cNvSpPr txBox="1"/>
          <p:nvPr/>
        </p:nvSpPr>
        <p:spPr>
          <a:xfrm>
            <a:off x="1016000" y="11142699"/>
            <a:ext cx="20320000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696969"/>
                </a:solidFill>
              </a:defRPr>
            </a:lvl1pPr>
          </a:lstStyle>
          <a:p>
            <a:pPr/>
            <a:r>
              <a:t>The final test was used once after the model and threshold were frozen.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Validation comparison and tuning result"/>
          <p:cNvSpPr txBox="1"/>
          <p:nvPr/>
        </p:nvSpPr>
        <p:spPr>
          <a:xfrm>
            <a:off x="1016000" y="992353"/>
            <a:ext cx="22352000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Validation comparison and tuning result</a:t>
            </a:r>
          </a:p>
        </p:txBody>
      </p:sp>
      <p:sp>
        <p:nvSpPr>
          <p:cNvPr id="297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298" name="8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299" name="MODEL"/>
          <p:cNvSpPr txBox="1"/>
          <p:nvPr/>
        </p:nvSpPr>
        <p:spPr>
          <a:xfrm>
            <a:off x="1143000" y="3141135"/>
            <a:ext cx="6350000" cy="448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MODEL</a:t>
            </a:r>
          </a:p>
        </p:txBody>
      </p:sp>
      <p:sp>
        <p:nvSpPr>
          <p:cNvPr id="300" name="AVERAGE PRECISION"/>
          <p:cNvSpPr txBox="1"/>
          <p:nvPr/>
        </p:nvSpPr>
        <p:spPr>
          <a:xfrm>
            <a:off x="8762999" y="2814528"/>
            <a:ext cx="4064002" cy="448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AVERAGE PRECISION</a:t>
            </a:r>
          </a:p>
        </p:txBody>
      </p:sp>
      <p:sp>
        <p:nvSpPr>
          <p:cNvPr id="301" name="ROC AUC"/>
          <p:cNvSpPr txBox="1"/>
          <p:nvPr/>
        </p:nvSpPr>
        <p:spPr>
          <a:xfrm>
            <a:off x="13715998" y="3141135"/>
            <a:ext cx="3175002" cy="448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ROC AUC</a:t>
            </a:r>
          </a:p>
        </p:txBody>
      </p:sp>
      <p:sp>
        <p:nvSpPr>
          <p:cNvPr id="302" name="BRIER"/>
          <p:cNvSpPr txBox="1"/>
          <p:nvPr/>
        </p:nvSpPr>
        <p:spPr>
          <a:xfrm>
            <a:off x="18160998" y="3141135"/>
            <a:ext cx="3175002" cy="448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BRIER</a:t>
            </a:r>
          </a:p>
        </p:txBody>
      </p:sp>
      <p:sp>
        <p:nvSpPr>
          <p:cNvPr id="303" name="Prior-probability baseline"/>
          <p:cNvSpPr txBox="1"/>
          <p:nvPr/>
        </p:nvSpPr>
        <p:spPr>
          <a:xfrm>
            <a:off x="1143000" y="4142418"/>
            <a:ext cx="6350000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4F4F4F"/>
                </a:solidFill>
              </a:defRPr>
            </a:lvl1pPr>
          </a:lstStyle>
          <a:p>
            <a:pPr/>
            <a:r>
              <a:t>Prior-probability baseline</a:t>
            </a:r>
          </a:p>
        </p:txBody>
      </p:sp>
      <p:sp>
        <p:nvSpPr>
          <p:cNvPr id="304" name="0.140"/>
          <p:cNvSpPr txBox="1"/>
          <p:nvPr/>
        </p:nvSpPr>
        <p:spPr>
          <a:xfrm>
            <a:off x="8762999" y="4469027"/>
            <a:ext cx="3175002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4F4F4F"/>
                </a:solidFill>
              </a:defRPr>
            </a:lvl1pPr>
          </a:lstStyle>
          <a:p>
            <a:pPr/>
            <a:r>
              <a:t>0.140</a:t>
            </a:r>
          </a:p>
        </p:txBody>
      </p:sp>
      <p:sp>
        <p:nvSpPr>
          <p:cNvPr id="305" name="0.500"/>
          <p:cNvSpPr txBox="1"/>
          <p:nvPr/>
        </p:nvSpPr>
        <p:spPr>
          <a:xfrm>
            <a:off x="13715998" y="4469027"/>
            <a:ext cx="3175002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4F4F4F"/>
                </a:solidFill>
              </a:defRPr>
            </a:lvl1pPr>
          </a:lstStyle>
          <a:p>
            <a:pPr/>
            <a:r>
              <a:t>0.500</a:t>
            </a:r>
          </a:p>
        </p:txBody>
      </p:sp>
      <p:sp>
        <p:nvSpPr>
          <p:cNvPr id="306" name="0.120"/>
          <p:cNvSpPr txBox="1"/>
          <p:nvPr/>
        </p:nvSpPr>
        <p:spPr>
          <a:xfrm>
            <a:off x="18160998" y="4469027"/>
            <a:ext cx="3175002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4F4F4F"/>
                </a:solidFill>
              </a:defRPr>
            </a:lvl1pPr>
          </a:lstStyle>
          <a:p>
            <a:pPr/>
            <a:r>
              <a:t>0.120</a:t>
            </a:r>
          </a:p>
        </p:txBody>
      </p:sp>
      <p:sp>
        <p:nvSpPr>
          <p:cNvPr id="307" name="Logistic regression, C = 10"/>
          <p:cNvSpPr txBox="1"/>
          <p:nvPr/>
        </p:nvSpPr>
        <p:spPr>
          <a:xfrm>
            <a:off x="1143000" y="5711416"/>
            <a:ext cx="6604000" cy="560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3000"/>
            </a:lvl1pPr>
          </a:lstStyle>
          <a:p>
            <a:pPr/>
            <a:r>
              <a:t>Logistic regression, C = 10</a:t>
            </a:r>
          </a:p>
        </p:txBody>
      </p:sp>
      <p:sp>
        <p:nvSpPr>
          <p:cNvPr id="308" name="0.874"/>
          <p:cNvSpPr txBox="1"/>
          <p:nvPr/>
        </p:nvSpPr>
        <p:spPr>
          <a:xfrm>
            <a:off x="8762999" y="6038024"/>
            <a:ext cx="3175002" cy="560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3000">
                <a:solidFill>
                  <a:srgbClr val="4BA2FF"/>
                </a:solidFill>
              </a:defRPr>
            </a:lvl1pPr>
          </a:lstStyle>
          <a:p>
            <a:pPr/>
            <a:r>
              <a:t>0.874</a:t>
            </a:r>
          </a:p>
        </p:txBody>
      </p:sp>
      <p:sp>
        <p:nvSpPr>
          <p:cNvPr id="309" name="0.955"/>
          <p:cNvSpPr txBox="1"/>
          <p:nvPr/>
        </p:nvSpPr>
        <p:spPr>
          <a:xfrm>
            <a:off x="13715998" y="6038024"/>
            <a:ext cx="3175002" cy="560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3000"/>
            </a:lvl1pPr>
          </a:lstStyle>
          <a:p>
            <a:pPr/>
            <a:r>
              <a:t>0.955</a:t>
            </a:r>
          </a:p>
        </p:txBody>
      </p:sp>
      <p:sp>
        <p:nvSpPr>
          <p:cNvPr id="310" name="0.048"/>
          <p:cNvSpPr txBox="1"/>
          <p:nvPr/>
        </p:nvSpPr>
        <p:spPr>
          <a:xfrm>
            <a:off x="18160998" y="6038024"/>
            <a:ext cx="3175002" cy="560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3000"/>
            </a:lvl1pPr>
          </a:lstStyle>
          <a:p>
            <a:pPr/>
            <a:r>
              <a:t>0.048</a:t>
            </a:r>
          </a:p>
        </p:txBody>
      </p:sp>
      <p:sp>
        <p:nvSpPr>
          <p:cNvPr id="311" name="Random forest, minimum leaf = 3"/>
          <p:cNvSpPr txBox="1"/>
          <p:nvPr/>
        </p:nvSpPr>
        <p:spPr>
          <a:xfrm>
            <a:off x="1143000" y="7317419"/>
            <a:ext cx="6985001" cy="523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4F4F4F"/>
                </a:solidFill>
              </a:defRPr>
            </a:lvl1pPr>
          </a:lstStyle>
          <a:p>
            <a:pPr/>
            <a:r>
              <a:t>Random forest, minimum leaf = 3</a:t>
            </a:r>
          </a:p>
        </p:txBody>
      </p:sp>
      <p:sp>
        <p:nvSpPr>
          <p:cNvPr id="312" name="0.835"/>
          <p:cNvSpPr txBox="1"/>
          <p:nvPr/>
        </p:nvSpPr>
        <p:spPr>
          <a:xfrm>
            <a:off x="8762999" y="7644027"/>
            <a:ext cx="3175002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4F4F4F"/>
                </a:solidFill>
              </a:defRPr>
            </a:lvl1pPr>
          </a:lstStyle>
          <a:p>
            <a:pPr/>
            <a:r>
              <a:t>0.835</a:t>
            </a:r>
          </a:p>
        </p:txBody>
      </p:sp>
      <p:sp>
        <p:nvSpPr>
          <p:cNvPr id="313" name="0.958"/>
          <p:cNvSpPr txBox="1"/>
          <p:nvPr/>
        </p:nvSpPr>
        <p:spPr>
          <a:xfrm>
            <a:off x="13715998" y="7644027"/>
            <a:ext cx="3175002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4F4F4F"/>
                </a:solidFill>
              </a:defRPr>
            </a:lvl1pPr>
          </a:lstStyle>
          <a:p>
            <a:pPr/>
            <a:r>
              <a:t>0.958</a:t>
            </a:r>
          </a:p>
        </p:txBody>
      </p:sp>
      <p:sp>
        <p:nvSpPr>
          <p:cNvPr id="314" name="0.079"/>
          <p:cNvSpPr txBox="1"/>
          <p:nvPr/>
        </p:nvSpPr>
        <p:spPr>
          <a:xfrm>
            <a:off x="18160998" y="7644027"/>
            <a:ext cx="3175002" cy="5234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solidFill>
                  <a:srgbClr val="4F4F4F"/>
                </a:solidFill>
              </a:defRPr>
            </a:lvl1pPr>
          </a:lstStyle>
          <a:p>
            <a:pPr/>
            <a:r>
              <a:t>0.079</a:t>
            </a:r>
          </a:p>
        </p:txBody>
      </p:sp>
      <p:sp>
        <p:nvSpPr>
          <p:cNvPr id="315" name="Tuning approach"/>
          <p:cNvSpPr txBox="1"/>
          <p:nvPr/>
        </p:nvSpPr>
        <p:spPr>
          <a:xfrm>
            <a:off x="1143000" y="9285361"/>
            <a:ext cx="4445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/>
            </a:lvl1pPr>
          </a:lstStyle>
          <a:p>
            <a:pPr/>
            <a:r>
              <a:t>Tuning approach</a:t>
            </a:r>
          </a:p>
        </p:txBody>
      </p:sp>
      <p:sp>
        <p:nvSpPr>
          <p:cNvPr id="316" name="Three logistic regularisation values and four forest complexity settings were ranked on 2024 average precision."/>
          <p:cNvSpPr txBox="1"/>
          <p:nvPr/>
        </p:nvSpPr>
        <p:spPr>
          <a:xfrm>
            <a:off x="1142998" y="10250141"/>
            <a:ext cx="11430003" cy="817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solidFill>
                  <a:srgbClr val="4F4F4F"/>
                </a:solidFill>
              </a:defRPr>
            </a:lvl1pPr>
          </a:lstStyle>
          <a:p>
            <a:pPr/>
            <a:r>
              <a:t>Three logistic regularisation values and four forest complexity settings were ranked on 2024 average precision.</a:t>
            </a:r>
          </a:p>
        </p:txBody>
      </p:sp>
      <p:sp>
        <p:nvSpPr>
          <p:cNvPr id="317" name="Selection"/>
          <p:cNvSpPr txBox="1"/>
          <p:nvPr/>
        </p:nvSpPr>
        <p:spPr>
          <a:xfrm>
            <a:off x="14224000" y="9396069"/>
            <a:ext cx="3810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/>
            </a:lvl1pPr>
          </a:lstStyle>
          <a:p>
            <a:pPr/>
            <a:r>
              <a:t>Selection</a:t>
            </a:r>
          </a:p>
        </p:txBody>
      </p:sp>
      <p:sp>
        <p:nvSpPr>
          <p:cNvPr id="318" name="Logistic regression won on average precision"/>
          <p:cNvSpPr txBox="1"/>
          <p:nvPr/>
        </p:nvSpPr>
        <p:spPr>
          <a:xfrm>
            <a:off x="14224000" y="10073313"/>
            <a:ext cx="8382000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Logistic regression won on average precision</a:t>
            </a:r>
          </a:p>
        </p:txBody>
      </p:sp>
      <p:sp>
        <p:nvSpPr>
          <p:cNvPr id="319" name="and remained easier to interpret."/>
          <p:cNvSpPr txBox="1"/>
          <p:nvPr/>
        </p:nvSpPr>
        <p:spPr>
          <a:xfrm>
            <a:off x="14224000" y="10771813"/>
            <a:ext cx="8382000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and remained easier to interpret.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he selected threshold balances referral precision and recall"/>
          <p:cNvSpPr txBox="1"/>
          <p:nvPr/>
        </p:nvSpPr>
        <p:spPr>
          <a:xfrm>
            <a:off x="1015999" y="992353"/>
            <a:ext cx="22352004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The selected threshold balances referral precision and recall</a:t>
            </a:r>
          </a:p>
        </p:txBody>
      </p:sp>
      <p:sp>
        <p:nvSpPr>
          <p:cNvPr id="324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325" name="9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9</a:t>
            </a:r>
          </a:p>
        </p:txBody>
      </p:sp>
      <p:pic>
        <p:nvPicPr>
          <p:cNvPr id="326" name="Validation precision-recall curve with the selected threshold highlighted" descr="Validation precision-recall curve with the selected threshold highlighted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89000" y="2857499"/>
            <a:ext cx="13207162" cy="8153401"/>
          </a:xfrm>
          <a:prstGeom prst="rect">
            <a:avLst/>
          </a:prstGeom>
          <a:ln w="12700">
            <a:miter lim="400000"/>
          </a:ln>
        </p:spPr>
      </p:pic>
      <p:sp>
        <p:nvSpPr>
          <p:cNvPr id="327" name="0.110"/>
          <p:cNvSpPr txBox="1"/>
          <p:nvPr/>
        </p:nvSpPr>
        <p:spPr>
          <a:xfrm>
            <a:off x="15493999" y="3326855"/>
            <a:ext cx="6477003" cy="1093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6600">
                <a:solidFill>
                  <a:srgbClr val="4BA2FF"/>
                </a:solidFill>
              </a:defRPr>
            </a:lvl1pPr>
          </a:lstStyle>
          <a:p>
            <a:pPr/>
            <a:r>
              <a:t>0.110</a:t>
            </a:r>
          </a:p>
        </p:txBody>
      </p:sp>
      <p:sp>
        <p:nvSpPr>
          <p:cNvPr id="328" name="validation-selected threshold"/>
          <p:cNvSpPr txBox="1"/>
          <p:nvPr/>
        </p:nvSpPr>
        <p:spPr>
          <a:xfrm>
            <a:off x="15494000" y="4338896"/>
            <a:ext cx="6731000" cy="473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validation-selected threshold</a:t>
            </a:r>
          </a:p>
        </p:txBody>
      </p:sp>
      <p:sp>
        <p:nvSpPr>
          <p:cNvPr id="329" name="70.2% precision"/>
          <p:cNvSpPr txBox="1"/>
          <p:nvPr/>
        </p:nvSpPr>
        <p:spPr>
          <a:xfrm>
            <a:off x="15493998" y="6820179"/>
            <a:ext cx="5461002" cy="647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3600"/>
            </a:lvl1pPr>
          </a:lstStyle>
          <a:p>
            <a:pPr/>
            <a:r>
              <a:t>70.2% precision</a:t>
            </a:r>
          </a:p>
        </p:txBody>
      </p:sp>
      <p:sp>
        <p:nvSpPr>
          <p:cNvPr id="330" name="93.0% recall"/>
          <p:cNvSpPr txBox="1"/>
          <p:nvPr/>
        </p:nvSpPr>
        <p:spPr>
          <a:xfrm>
            <a:off x="15494000" y="8280679"/>
            <a:ext cx="5461000" cy="647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3600"/>
            </a:lvl1pPr>
          </a:lstStyle>
          <a:p>
            <a:pPr/>
            <a:r>
              <a:t>93.0% recall</a:t>
            </a:r>
          </a:p>
        </p:txBody>
      </p:sp>
      <p:sp>
        <p:nvSpPr>
          <p:cNvPr id="331" name="F1 was maximised because no review capacity or error costs were supplied."/>
          <p:cNvSpPr txBox="1"/>
          <p:nvPr/>
        </p:nvSpPr>
        <p:spPr>
          <a:xfrm>
            <a:off x="15493998" y="9084315"/>
            <a:ext cx="6858002" cy="6743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000">
                <a:solidFill>
                  <a:srgbClr val="4F4F4F"/>
                </a:solidFill>
              </a:defRPr>
            </a:lvl1pPr>
          </a:lstStyle>
          <a:p>
            <a:pPr/>
            <a:r>
              <a:t>F1 was maximised because no review capacity or error costs were supplied.</a:t>
            </a:r>
          </a:p>
        </p:txBody>
      </p:sp>
      <p:sp>
        <p:nvSpPr>
          <p:cNvPr id="332" name="Reset the operating point when those constraints are known."/>
          <p:cNvSpPr txBox="1"/>
          <p:nvPr/>
        </p:nvSpPr>
        <p:spPr>
          <a:xfrm>
            <a:off x="15493998" y="10236423"/>
            <a:ext cx="6858002" cy="6743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000">
                <a:solidFill>
                  <a:srgbClr val="4F4F4F"/>
                </a:solidFill>
              </a:defRPr>
            </a:lvl1pPr>
          </a:lstStyle>
          <a:p>
            <a:pPr/>
            <a:r>
              <a:t>Reset the operating point when those constraints are known.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erformance held on the untouched 2025+ claims"/>
          <p:cNvSpPr txBox="1"/>
          <p:nvPr/>
        </p:nvSpPr>
        <p:spPr>
          <a:xfrm>
            <a:off x="1016000" y="992353"/>
            <a:ext cx="22352000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Performance held on the untouched 2025+ claims</a:t>
            </a:r>
          </a:p>
        </p:txBody>
      </p:sp>
      <p:sp>
        <p:nvSpPr>
          <p:cNvPr id="337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338" name="10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339" name="0.909"/>
          <p:cNvSpPr txBox="1"/>
          <p:nvPr/>
        </p:nvSpPr>
        <p:spPr>
          <a:xfrm>
            <a:off x="1016000" y="3135988"/>
            <a:ext cx="4191000" cy="1068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6400">
                <a:solidFill>
                  <a:srgbClr val="4BA2FF"/>
                </a:solidFill>
              </a:defRPr>
            </a:lvl1pPr>
          </a:lstStyle>
          <a:p>
            <a:pPr/>
            <a:r>
              <a:t>0.909</a:t>
            </a:r>
          </a:p>
        </p:txBody>
      </p:sp>
      <p:sp>
        <p:nvSpPr>
          <p:cNvPr id="340" name="average precision"/>
          <p:cNvSpPr txBox="1"/>
          <p:nvPr/>
        </p:nvSpPr>
        <p:spPr>
          <a:xfrm>
            <a:off x="1066799" y="4097227"/>
            <a:ext cx="4318003" cy="448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average precision</a:t>
            </a:r>
          </a:p>
        </p:txBody>
      </p:sp>
      <p:sp>
        <p:nvSpPr>
          <p:cNvPr id="341" name="0.966"/>
          <p:cNvSpPr txBox="1"/>
          <p:nvPr/>
        </p:nvSpPr>
        <p:spPr>
          <a:xfrm>
            <a:off x="6349999" y="3135988"/>
            <a:ext cx="4191003" cy="1068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6400"/>
            </a:lvl1pPr>
          </a:lstStyle>
          <a:p>
            <a:pPr/>
            <a:r>
              <a:t>0.966</a:t>
            </a:r>
          </a:p>
        </p:txBody>
      </p:sp>
      <p:sp>
        <p:nvSpPr>
          <p:cNvPr id="342" name="ROC AUC"/>
          <p:cNvSpPr txBox="1"/>
          <p:nvPr/>
        </p:nvSpPr>
        <p:spPr>
          <a:xfrm>
            <a:off x="6400800" y="4423836"/>
            <a:ext cx="3810000" cy="448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ROC AUC</a:t>
            </a:r>
          </a:p>
        </p:txBody>
      </p:sp>
      <p:sp>
        <p:nvSpPr>
          <p:cNvPr id="343" name="66.7%"/>
          <p:cNvSpPr txBox="1"/>
          <p:nvPr/>
        </p:nvSpPr>
        <p:spPr>
          <a:xfrm>
            <a:off x="1016000" y="6588177"/>
            <a:ext cx="4191000" cy="8952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5200"/>
            </a:lvl1pPr>
          </a:lstStyle>
          <a:p>
            <a:pPr/>
            <a:r>
              <a:t>66.7%</a:t>
            </a:r>
          </a:p>
        </p:txBody>
      </p:sp>
      <p:sp>
        <p:nvSpPr>
          <p:cNvPr id="344" name="precision"/>
          <p:cNvSpPr txBox="1"/>
          <p:nvPr/>
        </p:nvSpPr>
        <p:spPr>
          <a:xfrm>
            <a:off x="1066800" y="7719160"/>
            <a:ext cx="3810000" cy="436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696969"/>
                </a:solidFill>
              </a:defRPr>
            </a:lvl1pPr>
          </a:lstStyle>
          <a:p>
            <a:pPr/>
            <a:r>
              <a:t>precision</a:t>
            </a:r>
          </a:p>
        </p:txBody>
      </p:sp>
      <p:sp>
        <p:nvSpPr>
          <p:cNvPr id="345" name="94.7%"/>
          <p:cNvSpPr txBox="1"/>
          <p:nvPr/>
        </p:nvSpPr>
        <p:spPr>
          <a:xfrm>
            <a:off x="6350000" y="6588177"/>
            <a:ext cx="4191000" cy="8952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5200"/>
            </a:lvl1pPr>
          </a:lstStyle>
          <a:p>
            <a:pPr/>
            <a:r>
              <a:t>94.7%</a:t>
            </a:r>
          </a:p>
        </p:txBody>
      </p:sp>
      <p:sp>
        <p:nvSpPr>
          <p:cNvPr id="346" name="recall"/>
          <p:cNvSpPr txBox="1"/>
          <p:nvPr/>
        </p:nvSpPr>
        <p:spPr>
          <a:xfrm>
            <a:off x="6400800" y="7719160"/>
            <a:ext cx="3810000" cy="436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200">
                <a:solidFill>
                  <a:srgbClr val="696969"/>
                </a:solidFill>
              </a:defRPr>
            </a:lvl1pPr>
          </a:lstStyle>
          <a:p>
            <a:pPr/>
            <a:r>
              <a:t>recall</a:t>
            </a:r>
          </a:p>
        </p:txBody>
      </p:sp>
      <p:sp>
        <p:nvSpPr>
          <p:cNvPr id="347" name="54 of 228 claims referred (23.7%)"/>
          <p:cNvSpPr txBox="1"/>
          <p:nvPr/>
        </p:nvSpPr>
        <p:spPr>
          <a:xfrm>
            <a:off x="1041400" y="9349598"/>
            <a:ext cx="9144000" cy="52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54 of 228 claims referred (23.7%)</a:t>
            </a:r>
          </a:p>
        </p:txBody>
      </p:sp>
      <p:pic>
        <p:nvPicPr>
          <p:cNvPr id="348" name="Confusion matrix with 172 true negatives, 18 false positives, 2 false negatives and 36 true positives" descr="Confusion matrix with 172 true negatives, 18 false positives, 2 false negatives and 36 true positives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3081000" y="2603500"/>
            <a:ext cx="8643829" cy="6832600"/>
          </a:xfrm>
          <a:prstGeom prst="rect">
            <a:avLst/>
          </a:prstGeom>
          <a:ln w="12700">
            <a:miter lim="400000"/>
          </a:ln>
        </p:spPr>
      </p:pic>
      <p:sp>
        <p:nvSpPr>
          <p:cNvPr id="349" name="36 true positives, 18 false positives and 2 missed litigated claims"/>
          <p:cNvSpPr txBox="1"/>
          <p:nvPr/>
        </p:nvSpPr>
        <p:spPr>
          <a:xfrm>
            <a:off x="12192000" y="9990028"/>
            <a:ext cx="10414000" cy="448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36 true positives, 18 false positives and 2 missed litigated claims</a:t>
            </a:r>
          </a:p>
        </p:txBody>
      </p:sp>
      <p:sp>
        <p:nvSpPr>
          <p:cNvPr id="350" name="Brier score: 0.046"/>
          <p:cNvSpPr txBox="1"/>
          <p:nvPr/>
        </p:nvSpPr>
        <p:spPr>
          <a:xfrm>
            <a:off x="12191999" y="11319433"/>
            <a:ext cx="6350002" cy="411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100">
                <a:solidFill>
                  <a:srgbClr val="696969"/>
                </a:solidFill>
              </a:defRPr>
            </a:lvl1pPr>
          </a:lstStyle>
          <a:p>
            <a:pPr/>
            <a:r>
              <a:t>Brier score: 0.046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Estimate development and third-party activity lead the ranking"/>
          <p:cNvSpPr txBox="1"/>
          <p:nvPr/>
        </p:nvSpPr>
        <p:spPr>
          <a:xfrm>
            <a:off x="1016000" y="992353"/>
            <a:ext cx="22352000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Estimate development and third-party activity lead the ranking</a:t>
            </a:r>
          </a:p>
        </p:txBody>
      </p:sp>
      <p:sp>
        <p:nvSpPr>
          <p:cNvPr id="355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356" name="11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11</a:t>
            </a:r>
          </a:p>
        </p:txBody>
      </p:sp>
      <p:pic>
        <p:nvPicPr>
          <p:cNvPr id="357" name="Permutation importance chart for the ten most influential predictors" descr="Permutation importance chart for the ten most influential predictors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89000" y="2793999"/>
            <a:ext cx="15749996" cy="8623301"/>
          </a:xfrm>
          <a:prstGeom prst="rect">
            <a:avLst/>
          </a:prstGeom>
          <a:ln w="12700">
            <a:miter lim="400000"/>
          </a:ln>
        </p:spPr>
      </p:pic>
      <p:sp>
        <p:nvSpPr>
          <p:cNvPr id="358" name="Largest signal"/>
          <p:cNvSpPr txBox="1"/>
          <p:nvPr/>
        </p:nvSpPr>
        <p:spPr>
          <a:xfrm>
            <a:off x="17906998" y="3172702"/>
            <a:ext cx="4953002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Largest signal</a:t>
            </a:r>
          </a:p>
        </p:txBody>
      </p:sp>
      <p:sp>
        <p:nvSpPr>
          <p:cNvPr id="359" name="Change between the initial and maximum Day-30 estimate"/>
          <p:cNvSpPr txBox="1"/>
          <p:nvPr/>
        </p:nvSpPr>
        <p:spPr>
          <a:xfrm>
            <a:off x="17907000" y="3433455"/>
            <a:ext cx="5207000" cy="888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7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Change between the initial and maximum Day-30 estimate</a:t>
            </a:r>
          </a:p>
        </p:txBody>
      </p:sp>
      <p:sp>
        <p:nvSpPr>
          <p:cNvPr id="360" name="Other leading inputs"/>
          <p:cNvSpPr txBox="1"/>
          <p:nvPr/>
        </p:nvSpPr>
        <p:spPr>
          <a:xfrm>
            <a:off x="17906998" y="6148092"/>
            <a:ext cx="4953002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Other leading inputs</a:t>
            </a:r>
          </a:p>
        </p:txBody>
      </p:sp>
      <p:sp>
        <p:nvSpPr>
          <p:cNvPr id="361" name="Initial estimate"/>
          <p:cNvSpPr txBox="1"/>
          <p:nvPr/>
        </p:nvSpPr>
        <p:spPr>
          <a:xfrm>
            <a:off x="17907000" y="7287717"/>
            <a:ext cx="5207000" cy="461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Initial estimate</a:t>
            </a:r>
          </a:p>
        </p:txBody>
      </p:sp>
      <p:sp>
        <p:nvSpPr>
          <p:cNvPr id="362" name="Third-party count"/>
          <p:cNvSpPr txBox="1"/>
          <p:nvPr/>
        </p:nvSpPr>
        <p:spPr>
          <a:xfrm>
            <a:off x="17906999" y="8303717"/>
            <a:ext cx="5207003" cy="461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Third-party count</a:t>
            </a:r>
          </a:p>
        </p:txBody>
      </p:sp>
      <p:sp>
        <p:nvSpPr>
          <p:cNvPr id="363" name="Prior litigation history"/>
          <p:cNvSpPr txBox="1"/>
          <p:nvPr/>
        </p:nvSpPr>
        <p:spPr>
          <a:xfrm>
            <a:off x="17906999" y="8993107"/>
            <a:ext cx="5207003" cy="461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Prior litigation history</a:t>
            </a:r>
          </a:p>
        </p:txBody>
      </p:sp>
      <p:sp>
        <p:nvSpPr>
          <p:cNvPr id="364" name="Predictive importance does not explain why a claim litigates."/>
          <p:cNvSpPr txBox="1"/>
          <p:nvPr/>
        </p:nvSpPr>
        <p:spPr>
          <a:xfrm>
            <a:off x="17907000" y="9846315"/>
            <a:ext cx="5207000" cy="6743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000">
                <a:solidFill>
                  <a:srgbClr val="696969"/>
                </a:solidFill>
              </a:defRPr>
            </a:lvl1pPr>
          </a:lstStyle>
          <a:p>
            <a:pPr/>
            <a:r>
              <a:t>Predictive importance does not explain why a claim litigates.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Future agent-assisted claims workflow"/>
          <p:cNvSpPr txBox="1"/>
          <p:nvPr/>
        </p:nvSpPr>
        <p:spPr>
          <a:xfrm>
            <a:off x="1016000" y="992353"/>
            <a:ext cx="22352000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Future agent-assisted claims workflow</a:t>
            </a:r>
          </a:p>
        </p:txBody>
      </p:sp>
      <p:sp>
        <p:nvSpPr>
          <p:cNvPr id="369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370" name="12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371" name="PROPOSED FUTURE STATE"/>
          <p:cNvSpPr txBox="1"/>
          <p:nvPr/>
        </p:nvSpPr>
        <p:spPr>
          <a:xfrm>
            <a:off x="1016000" y="1918992"/>
            <a:ext cx="660400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>
                <a:solidFill>
                  <a:srgbClr val="4BA2FF"/>
                </a:solidFill>
              </a:defRPr>
            </a:lvl1pPr>
          </a:lstStyle>
          <a:p>
            <a:pPr/>
            <a:r>
              <a:t>PROPOSED FUTURE STATE</a:t>
            </a:r>
          </a:p>
        </p:txBody>
      </p:sp>
      <p:sp>
        <p:nvSpPr>
          <p:cNvPr id="372" name="Each stage produces a traceable artefact for the next control."/>
          <p:cNvSpPr txBox="1"/>
          <p:nvPr/>
        </p:nvSpPr>
        <p:spPr>
          <a:xfrm>
            <a:off x="1016000" y="2900757"/>
            <a:ext cx="17145000" cy="52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Each stage produces a traceable artefact for the next control.</a:t>
            </a:r>
          </a:p>
        </p:txBody>
      </p:sp>
      <p:sp>
        <p:nvSpPr>
          <p:cNvPr id="373" name="01"/>
          <p:cNvSpPr txBox="1"/>
          <p:nvPr/>
        </p:nvSpPr>
        <p:spPr>
          <a:xfrm>
            <a:off x="1016000" y="4143059"/>
            <a:ext cx="2286000" cy="857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5000">
                <a:solidFill>
                  <a:srgbClr val="4BA2FF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374" name="Intake and cutoff agent"/>
          <p:cNvSpPr txBox="1"/>
          <p:nvPr/>
        </p:nvSpPr>
        <p:spPr>
          <a:xfrm>
            <a:off x="1015999" y="5069513"/>
            <a:ext cx="4953003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700"/>
            </a:lvl1pPr>
          </a:lstStyle>
          <a:p>
            <a:pPr/>
            <a:r>
              <a:t>Intake and cutoff agent</a:t>
            </a:r>
          </a:p>
        </p:txBody>
      </p:sp>
      <p:sp>
        <p:nvSpPr>
          <p:cNvPr id="375" name="Tools"/>
          <p:cNvSpPr txBox="1"/>
          <p:nvPr/>
        </p:nvSpPr>
        <p:spPr>
          <a:xfrm>
            <a:off x="1016000" y="6474702"/>
            <a:ext cx="228600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Tools</a:t>
            </a:r>
          </a:p>
        </p:txBody>
      </p:sp>
      <p:sp>
        <p:nvSpPr>
          <p:cNvPr id="376" name="Schema checks and date parser"/>
          <p:cNvSpPr txBox="1"/>
          <p:nvPr/>
        </p:nvSpPr>
        <p:spPr>
          <a:xfrm>
            <a:off x="1016000" y="7037307"/>
            <a:ext cx="4953000" cy="461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Schema checks and date parser</a:t>
            </a:r>
          </a:p>
        </p:txBody>
      </p:sp>
      <p:sp>
        <p:nvSpPr>
          <p:cNvPr id="377" name="Output"/>
          <p:cNvSpPr txBox="1"/>
          <p:nvPr/>
        </p:nvSpPr>
        <p:spPr>
          <a:xfrm>
            <a:off x="1016000" y="8760701"/>
            <a:ext cx="228600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Output</a:t>
            </a:r>
          </a:p>
        </p:txBody>
      </p:sp>
      <p:sp>
        <p:nvSpPr>
          <p:cNvPr id="378" name="Validated Day-30 claim packet"/>
          <p:cNvSpPr txBox="1"/>
          <p:nvPr/>
        </p:nvSpPr>
        <p:spPr>
          <a:xfrm>
            <a:off x="1016000" y="9259961"/>
            <a:ext cx="4953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Validated Day-30 claim packet</a:t>
            </a:r>
          </a:p>
        </p:txBody>
      </p:sp>
      <p:sp>
        <p:nvSpPr>
          <p:cNvPr id="379" name="02"/>
          <p:cNvSpPr txBox="1"/>
          <p:nvPr/>
        </p:nvSpPr>
        <p:spPr>
          <a:xfrm>
            <a:off x="6604000" y="4143059"/>
            <a:ext cx="2286000" cy="857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5000">
                <a:solidFill>
                  <a:srgbClr val="4BA2FF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380" name="Note evidence agent"/>
          <p:cNvSpPr txBox="1"/>
          <p:nvPr/>
        </p:nvSpPr>
        <p:spPr>
          <a:xfrm>
            <a:off x="6604000" y="5069513"/>
            <a:ext cx="4953000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700"/>
            </a:lvl1pPr>
          </a:lstStyle>
          <a:p>
            <a:pPr/>
            <a:r>
              <a:t>Note evidence agent</a:t>
            </a:r>
          </a:p>
        </p:txBody>
      </p:sp>
      <p:sp>
        <p:nvSpPr>
          <p:cNvPr id="381" name="Tools"/>
          <p:cNvSpPr txBox="1"/>
          <p:nvPr/>
        </p:nvSpPr>
        <p:spPr>
          <a:xfrm>
            <a:off x="6604000" y="6474702"/>
            <a:ext cx="228600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Tools</a:t>
            </a:r>
          </a:p>
        </p:txBody>
      </p:sp>
      <p:sp>
        <p:nvSpPr>
          <p:cNvPr id="382" name="Controlled taxonomy"/>
          <p:cNvSpPr txBox="1"/>
          <p:nvPr/>
        </p:nvSpPr>
        <p:spPr>
          <a:xfrm>
            <a:off x="6604000" y="7037307"/>
            <a:ext cx="4953000" cy="461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Controlled taxonomy</a:t>
            </a:r>
          </a:p>
        </p:txBody>
      </p:sp>
      <p:sp>
        <p:nvSpPr>
          <p:cNvPr id="383" name="Source-note retrieval"/>
          <p:cNvSpPr txBox="1"/>
          <p:nvPr/>
        </p:nvSpPr>
        <p:spPr>
          <a:xfrm>
            <a:off x="6604000" y="7672307"/>
            <a:ext cx="4953000" cy="461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Source-note retrieval</a:t>
            </a:r>
          </a:p>
        </p:txBody>
      </p:sp>
      <p:sp>
        <p:nvSpPr>
          <p:cNvPr id="384" name="Output"/>
          <p:cNvSpPr txBox="1"/>
          <p:nvPr/>
        </p:nvSpPr>
        <p:spPr>
          <a:xfrm>
            <a:off x="6604000" y="8760701"/>
            <a:ext cx="228600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Output</a:t>
            </a:r>
          </a:p>
        </p:txBody>
      </p:sp>
      <p:sp>
        <p:nvSpPr>
          <p:cNvPr id="385" name="Cited themes and leakage flags"/>
          <p:cNvSpPr txBox="1"/>
          <p:nvPr/>
        </p:nvSpPr>
        <p:spPr>
          <a:xfrm>
            <a:off x="6604000" y="9259961"/>
            <a:ext cx="4953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Cited themes and leakage flags</a:t>
            </a:r>
          </a:p>
        </p:txBody>
      </p:sp>
      <p:sp>
        <p:nvSpPr>
          <p:cNvPr id="386" name="03"/>
          <p:cNvSpPr txBox="1"/>
          <p:nvPr/>
        </p:nvSpPr>
        <p:spPr>
          <a:xfrm>
            <a:off x="12192000" y="4143059"/>
            <a:ext cx="2286001" cy="857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5000">
                <a:solidFill>
                  <a:srgbClr val="4BA2FF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387" name="Risk and quality agent"/>
          <p:cNvSpPr txBox="1"/>
          <p:nvPr/>
        </p:nvSpPr>
        <p:spPr>
          <a:xfrm>
            <a:off x="12192000" y="5069513"/>
            <a:ext cx="4953000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700"/>
            </a:lvl1pPr>
          </a:lstStyle>
          <a:p>
            <a:pPr/>
            <a:r>
              <a:t>Risk and quality agent</a:t>
            </a:r>
          </a:p>
        </p:txBody>
      </p:sp>
      <p:sp>
        <p:nvSpPr>
          <p:cNvPr id="388" name="Tools"/>
          <p:cNvSpPr txBox="1"/>
          <p:nvPr/>
        </p:nvSpPr>
        <p:spPr>
          <a:xfrm>
            <a:off x="12192000" y="6474702"/>
            <a:ext cx="2286001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Tools</a:t>
            </a:r>
          </a:p>
        </p:txBody>
      </p:sp>
      <p:sp>
        <p:nvSpPr>
          <p:cNvPr id="389" name="Model scoring and reason codes"/>
          <p:cNvSpPr txBox="1"/>
          <p:nvPr/>
        </p:nvSpPr>
        <p:spPr>
          <a:xfrm>
            <a:off x="12192000" y="6710699"/>
            <a:ext cx="4953000" cy="461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Model scoring and reason codes</a:t>
            </a:r>
          </a:p>
        </p:txBody>
      </p:sp>
      <p:sp>
        <p:nvSpPr>
          <p:cNvPr id="390" name="Drift and calibration checks"/>
          <p:cNvSpPr txBox="1"/>
          <p:nvPr/>
        </p:nvSpPr>
        <p:spPr>
          <a:xfrm>
            <a:off x="12192000" y="7345699"/>
            <a:ext cx="4953000" cy="461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Drift and calibration checks</a:t>
            </a:r>
          </a:p>
        </p:txBody>
      </p:sp>
      <p:sp>
        <p:nvSpPr>
          <p:cNvPr id="391" name="Output"/>
          <p:cNvSpPr txBox="1"/>
          <p:nvPr/>
        </p:nvSpPr>
        <p:spPr>
          <a:xfrm>
            <a:off x="12192000" y="8760701"/>
            <a:ext cx="228600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Output</a:t>
            </a:r>
          </a:p>
        </p:txBody>
      </p:sp>
      <p:sp>
        <p:nvSpPr>
          <p:cNvPr id="392" name="Risk score with quality status"/>
          <p:cNvSpPr txBox="1"/>
          <p:nvPr/>
        </p:nvSpPr>
        <p:spPr>
          <a:xfrm>
            <a:off x="12192000" y="9259961"/>
            <a:ext cx="4953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Risk score with quality status</a:t>
            </a:r>
          </a:p>
        </p:txBody>
      </p:sp>
      <p:sp>
        <p:nvSpPr>
          <p:cNvPr id="393" name="04"/>
          <p:cNvSpPr txBox="1"/>
          <p:nvPr/>
        </p:nvSpPr>
        <p:spPr>
          <a:xfrm>
            <a:off x="17780000" y="4143059"/>
            <a:ext cx="2286000" cy="857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5000">
                <a:solidFill>
                  <a:srgbClr val="4BA2FF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394" name="Claims review workspace"/>
          <p:cNvSpPr txBox="1"/>
          <p:nvPr/>
        </p:nvSpPr>
        <p:spPr>
          <a:xfrm>
            <a:off x="17779999" y="5069513"/>
            <a:ext cx="5207003" cy="510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700"/>
            </a:lvl1pPr>
          </a:lstStyle>
          <a:p>
            <a:pPr/>
            <a:r>
              <a:t>Claims review workspace</a:t>
            </a:r>
          </a:p>
        </p:txBody>
      </p:sp>
      <p:sp>
        <p:nvSpPr>
          <p:cNvPr id="395" name="Tools"/>
          <p:cNvSpPr txBox="1"/>
          <p:nvPr/>
        </p:nvSpPr>
        <p:spPr>
          <a:xfrm>
            <a:off x="17780000" y="6474702"/>
            <a:ext cx="2286000" cy="436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Tools</a:t>
            </a:r>
          </a:p>
        </p:txBody>
      </p:sp>
      <p:sp>
        <p:nvSpPr>
          <p:cNvPr id="396" name="Review queue and evidence links"/>
          <p:cNvSpPr txBox="1"/>
          <p:nvPr/>
        </p:nvSpPr>
        <p:spPr>
          <a:xfrm>
            <a:off x="17779998" y="6710699"/>
            <a:ext cx="4953002" cy="461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Review queue and evidence links</a:t>
            </a:r>
          </a:p>
        </p:txBody>
      </p:sp>
      <p:sp>
        <p:nvSpPr>
          <p:cNvPr id="397" name="Audit log"/>
          <p:cNvSpPr txBox="1"/>
          <p:nvPr/>
        </p:nvSpPr>
        <p:spPr>
          <a:xfrm>
            <a:off x="17779998" y="7998917"/>
            <a:ext cx="4953002" cy="461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F4F4F"/>
                </a:solidFill>
              </a:defRPr>
            </a:lvl1pPr>
          </a:lstStyle>
          <a:p>
            <a:pPr/>
            <a:r>
              <a:t>Audit log</a:t>
            </a:r>
          </a:p>
        </p:txBody>
      </p:sp>
      <p:sp>
        <p:nvSpPr>
          <p:cNvPr id="398" name="Output"/>
          <p:cNvSpPr txBox="1"/>
          <p:nvPr/>
        </p:nvSpPr>
        <p:spPr>
          <a:xfrm>
            <a:off x="17780000" y="8760701"/>
            <a:ext cx="2286000" cy="4363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200"/>
            </a:lvl1pPr>
          </a:lstStyle>
          <a:p>
            <a:pPr/>
            <a:r>
              <a:t>Output</a:t>
            </a:r>
          </a:p>
        </p:txBody>
      </p:sp>
      <p:sp>
        <p:nvSpPr>
          <p:cNvPr id="399" name="Human-owned review decision"/>
          <p:cNvSpPr txBox="1"/>
          <p:nvPr/>
        </p:nvSpPr>
        <p:spPr>
          <a:xfrm>
            <a:off x="17780000" y="9259961"/>
            <a:ext cx="4953000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400">
                <a:solidFill>
                  <a:srgbClr val="4BA2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Human-owned review decision</a:t>
            </a:r>
          </a:p>
        </p:txBody>
      </p:sp>
      <p:sp>
        <p:nvSpPr>
          <p:cNvPr id="400" name="Controls across every stage"/>
          <p:cNvSpPr txBox="1"/>
          <p:nvPr/>
        </p:nvSpPr>
        <p:spPr>
          <a:xfrm>
            <a:off x="1016000" y="10663128"/>
            <a:ext cx="4572000" cy="448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/>
            </a:lvl1pPr>
          </a:lstStyle>
          <a:p>
            <a:pPr/>
            <a:r>
              <a:t>Controls across every stage</a:t>
            </a:r>
          </a:p>
        </p:txBody>
      </p:sp>
      <p:sp>
        <p:nvSpPr>
          <p:cNvPr id="401" name="Access control, minimal personal data, prompt and model version logs, human approval and performance monitoring"/>
          <p:cNvSpPr txBox="1"/>
          <p:nvPr/>
        </p:nvSpPr>
        <p:spPr>
          <a:xfrm>
            <a:off x="5842000" y="11034393"/>
            <a:ext cx="16764000" cy="473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500">
                <a:solidFill>
                  <a:srgbClr val="4F4F4F"/>
                </a:solidFill>
              </a:defRPr>
            </a:lvl1pPr>
          </a:lstStyle>
          <a:p>
            <a:pPr/>
            <a:r>
              <a:t>Access control, minimal personal data, prompt and model version logs, human approval and performance monitoring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ommended use, controls and next steps"/>
          <p:cNvSpPr txBox="1"/>
          <p:nvPr/>
        </p:nvSpPr>
        <p:spPr>
          <a:xfrm>
            <a:off x="1016000" y="992353"/>
            <a:ext cx="22352000" cy="771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4400"/>
            </a:lvl1pPr>
          </a:lstStyle>
          <a:p>
            <a:pPr/>
            <a:r>
              <a:t>Recommended use, controls and next steps</a:t>
            </a:r>
          </a:p>
        </p:txBody>
      </p:sp>
      <p:sp>
        <p:nvSpPr>
          <p:cNvPr id="406" name="HOME INSURANCE LITIGATION PREDICTION"/>
          <p:cNvSpPr txBox="1"/>
          <p:nvPr/>
        </p:nvSpPr>
        <p:spPr>
          <a:xfrm>
            <a:off x="1016000" y="12420788"/>
            <a:ext cx="11430000" cy="33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HOME INSURANCE LITIGATION PREDICTION</a:t>
            </a:r>
          </a:p>
        </p:txBody>
      </p:sp>
      <p:sp>
        <p:nvSpPr>
          <p:cNvPr id="407" name="13"/>
          <p:cNvSpPr txBox="1"/>
          <p:nvPr/>
        </p:nvSpPr>
        <p:spPr>
          <a:xfrm>
            <a:off x="22097999" y="12747397"/>
            <a:ext cx="1270003" cy="337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1600">
                <a:solidFill>
                  <a:srgbClr val="848484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408" name="ACT"/>
          <p:cNvSpPr txBox="1"/>
          <p:nvPr/>
        </p:nvSpPr>
        <p:spPr>
          <a:xfrm>
            <a:off x="1016000" y="3039535"/>
            <a:ext cx="5969000" cy="448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ACT</a:t>
            </a:r>
          </a:p>
        </p:txBody>
      </p:sp>
      <p:sp>
        <p:nvSpPr>
          <p:cNvPr id="409" name="Prioritise flagged claims for earlier review, investigation and customer contact."/>
          <p:cNvSpPr txBox="1"/>
          <p:nvPr/>
        </p:nvSpPr>
        <p:spPr>
          <a:xfrm>
            <a:off x="1016000" y="3961989"/>
            <a:ext cx="6096000" cy="13376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9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Prioritise flagged claims for earlier review, investigation and customer contact.</a:t>
            </a:r>
          </a:p>
        </p:txBody>
      </p:sp>
      <p:sp>
        <p:nvSpPr>
          <p:cNvPr id="410" name="CONTROL"/>
          <p:cNvSpPr txBox="1"/>
          <p:nvPr/>
        </p:nvSpPr>
        <p:spPr>
          <a:xfrm>
            <a:off x="8890000" y="3039535"/>
            <a:ext cx="5969000" cy="448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CONTROL</a:t>
            </a:r>
          </a:p>
        </p:txBody>
      </p:sp>
      <p:sp>
        <p:nvSpPr>
          <p:cNvPr id="411" name="Keep coverage, payment and settlement decisions with Claims professionals."/>
          <p:cNvSpPr txBox="1"/>
          <p:nvPr/>
        </p:nvSpPr>
        <p:spPr>
          <a:xfrm>
            <a:off x="8890000" y="3961989"/>
            <a:ext cx="6096000" cy="13376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9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Keep coverage, payment and settlement decisions with Claims professionals.</a:t>
            </a:r>
          </a:p>
        </p:txBody>
      </p:sp>
      <p:sp>
        <p:nvSpPr>
          <p:cNvPr id="412" name="VALIDATE"/>
          <p:cNvSpPr txBox="1"/>
          <p:nvPr/>
        </p:nvSpPr>
        <p:spPr>
          <a:xfrm>
            <a:off x="16763999" y="3039535"/>
            <a:ext cx="5969003" cy="448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300">
                <a:solidFill>
                  <a:srgbClr val="4BA2FF"/>
                </a:solidFill>
              </a:defRPr>
            </a:lvl1pPr>
          </a:lstStyle>
          <a:p>
            <a:pPr/>
            <a:r>
              <a:t>VALIDATE</a:t>
            </a:r>
          </a:p>
        </p:txBody>
      </p:sp>
      <p:sp>
        <p:nvSpPr>
          <p:cNvPr id="413" name="Agree review capacity and error costs, assess subgroup performance and validate prospectively."/>
          <p:cNvSpPr txBox="1"/>
          <p:nvPr/>
        </p:nvSpPr>
        <p:spPr>
          <a:xfrm>
            <a:off x="16763998" y="3888430"/>
            <a:ext cx="6096002" cy="1738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9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Agree review capacity and error costs, assess subgroup performance and validate prospectively.</a:t>
            </a:r>
          </a:p>
        </p:txBody>
      </p:sp>
      <p:sp>
        <p:nvSpPr>
          <p:cNvPr id="414" name="Key limitations"/>
          <p:cNvSpPr txBox="1"/>
          <p:nvPr/>
        </p:nvSpPr>
        <p:spPr>
          <a:xfrm>
            <a:off x="1015998" y="8945219"/>
            <a:ext cx="5334003" cy="4610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b="1" sz="2400"/>
            </a:lvl1pPr>
          </a:lstStyle>
          <a:p>
            <a:pPr/>
            <a:r>
              <a:t>Key limitations</a:t>
            </a:r>
          </a:p>
        </p:txBody>
      </p:sp>
      <p:sp>
        <p:nvSpPr>
          <p:cNvPr id="415" name="Synthetic data, 1,000 claims, one geographic market, temporal drift risk and no causal interpretation"/>
          <p:cNvSpPr txBox="1"/>
          <p:nvPr/>
        </p:nvSpPr>
        <p:spPr>
          <a:xfrm>
            <a:off x="1016000" y="10050322"/>
            <a:ext cx="21336000" cy="4987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600">
                <a:solidFill>
                  <a:srgbClr val="4F4F4F"/>
                </a:solidFill>
              </a:defRPr>
            </a:lvl1pPr>
          </a:lstStyle>
          <a:p>
            <a:pPr/>
            <a:r>
              <a:t>Synthetic data, 1,000 claims, one geographic market, temporal drift risk and no causal interpretation</a:t>
            </a:r>
          </a:p>
        </p:txBody>
      </p:sp>
      <p:sp>
        <p:nvSpPr>
          <p:cNvPr id="416" name="Next: calibrate the operating point, monitor performance and drift, and retrain when claim patterns change."/>
          <p:cNvSpPr txBox="1"/>
          <p:nvPr/>
        </p:nvSpPr>
        <p:spPr>
          <a:xfrm>
            <a:off x="1016000" y="11581207"/>
            <a:ext cx="21336002" cy="5230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>
              <a:defRPr sz="28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Next: calibrate the operating point, monitor performance and drift, and retrain when claim patterns change.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