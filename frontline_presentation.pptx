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Inter"/>
        <a:ea typeface="Inter"/>
        <a:cs typeface="Inter"/>
        <a:sym typeface="Inte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F1D5"/>
          </a:solidFill>
        </a:fill>
      </a:tcStyle>
    </a:wholeTbl>
    <a:band2H>
      <a:tcTxStyle b="def" i="def"/>
      <a:tcStyle>
        <a:tcBdr/>
        <a:fill>
          <a:solidFill>
            <a:srgbClr val="E7F8EB"/>
          </a:solidFill>
        </a:fill>
      </a:tcStyle>
    </a:band2H>
    <a:firstCol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AFAD1"/>
          </a:solidFill>
        </a:fill>
      </a:tcStyle>
    </a:wholeTbl>
    <a:band2H>
      <a:tcTxStyle b="def" i="def"/>
      <a:tcStyle>
        <a:tcBdr/>
        <a:fill>
          <a:solidFill>
            <a:srgbClr val="FDFCEA"/>
          </a:solidFill>
        </a:fill>
      </a:tcStyle>
    </a:band2H>
    <a:firstCol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6E0"/>
          </a:solidFill>
        </a:fill>
      </a:tcStyle>
    </a:wholeTbl>
    <a:band2H>
      <a:tcTxStyle b="def" i="def"/>
      <a:tcStyle>
        <a:tcBdr/>
        <a:fill>
          <a:solidFill>
            <a:srgbClr val="E7ECF0"/>
          </a:solidFill>
        </a:fill>
      </a:tcStyle>
    </a:band2H>
    <a:firstCol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Inter"/>
          <a:ea typeface="Inter"/>
          <a:cs typeface="In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" name="Shape 9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93700" y="1041400"/>
            <a:ext cx="7493000" cy="2491490"/>
          </a:xfrm>
          <a:prstGeom prst="rect">
            <a:avLst/>
          </a:prstGeom>
        </p:spPr>
        <p:txBody>
          <a:bodyPr anchor="b"/>
          <a:lstStyle>
            <a:lvl1pPr>
              <a:defRPr b="1" sz="6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93700" y="4356100"/>
            <a:ext cx="5537200" cy="1638300"/>
          </a:xfrm>
          <a:prstGeom prst="rect">
            <a:avLst/>
          </a:prstGeom>
        </p:spPr>
        <p:txBody>
          <a:bodyPr/>
          <a:lstStyle>
            <a:lvl1pPr marL="0" indent="0"/>
            <a:lvl2pPr marL="0" indent="457200"/>
            <a:lvl3pPr marL="0" indent="914400"/>
            <a:lvl4pPr marL="0" indent="1371600"/>
            <a:lvl5pPr marL="0" indent="182880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5892800" y="598805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ody Level One…"/>
          <p:cNvSpPr txBox="1"/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sz="half"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/>
          <p:nvPr>
            <p:ph type="body" sz="quarter"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ody Level One…"/>
          <p:cNvSpPr txBox="1"/>
          <p:nvPr>
            <p:ph type="body" sz="quarter"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xfrm>
            <a:off x="11630210" y="6356091"/>
            <a:ext cx="168090" cy="165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0" name="Text Placeholder 7"/>
          <p:cNvSpPr/>
          <p:nvPr>
            <p:ph type="body" sz="quarter" idx="21"/>
          </p:nvPr>
        </p:nvSpPr>
        <p:spPr>
          <a:xfrm>
            <a:off x="3334965" y="4826000"/>
            <a:ext cx="2595935" cy="1168400"/>
          </a:xfrm>
          <a:prstGeom prst="rect">
            <a:avLst/>
          </a:prstGeom>
        </p:spPr>
        <p:txBody>
          <a:bodyPr/>
          <a:lstStyle/>
          <a:p>
            <a:pPr>
              <a:defRPr sz="1800"/>
            </a:pPr>
          </a:p>
        </p:txBody>
      </p:sp>
      <p:sp>
        <p:nvSpPr>
          <p:cNvPr id="51" name="Text Placeholder 7"/>
          <p:cNvSpPr/>
          <p:nvPr>
            <p:ph type="body" sz="quarter" idx="22"/>
          </p:nvPr>
        </p:nvSpPr>
        <p:spPr>
          <a:xfrm>
            <a:off x="9205679" y="4826000"/>
            <a:ext cx="2595935" cy="1168400"/>
          </a:xfrm>
          <a:prstGeom prst="rect">
            <a:avLst/>
          </a:prstGeom>
        </p:spPr>
        <p:txBody>
          <a:bodyPr/>
          <a:lstStyle/>
          <a:p>
            <a:pPr>
              <a:defRPr sz="18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"/>
          <p:cNvSpPr txBox="1"/>
          <p:nvPr>
            <p:ph type="sldNum" sz="quarter" idx="2"/>
          </p:nvPr>
        </p:nvSpPr>
        <p:spPr>
          <a:xfrm>
            <a:off x="5892800" y="598805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6 Field Grid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/>
          <p:nvPr>
            <p:ph type="sldNum" sz="quarter" idx="2"/>
          </p:nvPr>
        </p:nvSpPr>
        <p:spPr>
          <a:xfrm>
            <a:off x="5892800" y="598805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8 Field Grid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598805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1630210" y="6355433"/>
            <a:ext cx="168090" cy="1651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defRPr sz="1100"/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93700" y="344007"/>
            <a:ext cx="11404600" cy="104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none">
          <a:solidFill>
            <a:srgbClr val="000000"/>
          </a:solidFill>
          <a:uFillTx/>
          <a:latin typeface="Inter Medium"/>
          <a:ea typeface="Inter Medium"/>
          <a:cs typeface="Inter Medium"/>
          <a:sym typeface="Inter Medium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1pPr>
      <a:lvl2pPr marL="22860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2pPr>
      <a:lvl3pPr marL="228600" marR="0" indent="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3pPr>
      <a:lvl4pPr marL="228600" marR="0" indent="1143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4pPr>
      <a:lvl5pPr marL="228600" marR="0" indent="1600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5pPr>
      <a:lvl6pPr marL="25908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6pPr>
      <a:lvl7pPr marL="30480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7pPr>
      <a:lvl8pPr marL="3505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8pPr>
      <a:lvl9pPr marL="39624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Inter"/>
          <a:ea typeface="Inter"/>
          <a:cs typeface="Inter"/>
          <a:sym typeface="Inte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Inte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3"/>
          <p:cNvSpPr txBox="1"/>
          <p:nvPr>
            <p:ph type="ctrTitle"/>
          </p:nvPr>
        </p:nvSpPr>
        <p:spPr>
          <a:xfrm>
            <a:off x="626339" y="449661"/>
            <a:ext cx="6730425" cy="2401449"/>
          </a:xfrm>
          <a:prstGeom prst="rect">
            <a:avLst/>
          </a:prstGeom>
        </p:spPr>
        <p:txBody>
          <a:bodyPr/>
          <a:lstStyle/>
          <a:p>
            <a:pPr>
              <a:defRPr sz="7200">
                <a:solidFill>
                  <a:srgbClr val="2D5E7A"/>
                </a:solidFill>
              </a:defRPr>
            </a:pPr>
            <a:r>
              <a:t>Litigation risk</a:t>
            </a:r>
          </a:p>
          <a:p>
            <a:pPr>
              <a:defRPr sz="7200">
                <a:solidFill>
                  <a:srgbClr val="2D5E7A"/>
                </a:solidFill>
              </a:defRPr>
            </a:pPr>
            <a:r>
              <a:t>at first report</a:t>
            </a:r>
          </a:p>
        </p:txBody>
      </p:sp>
      <p:sp>
        <p:nvSpPr>
          <p:cNvPr id="97" name="Subtitle 4"/>
          <p:cNvSpPr txBox="1"/>
          <p:nvPr>
            <p:ph type="subTitle" sz="quarter" idx="1"/>
          </p:nvPr>
        </p:nvSpPr>
        <p:spPr>
          <a:xfrm>
            <a:off x="642668" y="3564937"/>
            <a:ext cx="3758376" cy="614677"/>
          </a:xfrm>
          <a:prstGeom prst="rect">
            <a:avLst/>
          </a:prstGeom>
        </p:spPr>
        <p:txBody>
          <a:bodyPr/>
          <a:lstStyle/>
          <a:p>
            <a:pPr defTabSz="886968">
              <a:spcBef>
                <a:spcPts val="900"/>
              </a:spcBef>
              <a:defRPr sz="1746"/>
            </a:pPr>
            <a:r>
              <a:t>Frontline data science assessment</a:t>
            </a:r>
          </a:p>
          <a:p>
            <a:pPr defTabSz="886968">
              <a:spcBef>
                <a:spcPts val="900"/>
              </a:spcBef>
              <a:defRPr sz="1746"/>
            </a:pPr>
            <a:r>
              <a:t>Dr Gary R. Marrs  17/09/26</a:t>
            </a:r>
          </a:p>
        </p:txBody>
      </p:sp>
      <p:pic>
        <p:nvPicPr>
          <p:cNvPr id="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rcRect l="0" t="25645" r="0" b="61469"/>
          <a:stretch>
            <a:fillRect/>
          </a:stretch>
        </p:blipFill>
        <p:spPr>
          <a:xfrm>
            <a:off x="0" y="4763385"/>
            <a:ext cx="12190542" cy="20946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ntent Placeholder 9"/>
          <p:cNvSpPr txBox="1"/>
          <p:nvPr>
            <p:ph type="body" sz="quarter" idx="1"/>
          </p:nvPr>
        </p:nvSpPr>
        <p:spPr>
          <a:xfrm>
            <a:off x="393700" y="2032000"/>
            <a:ext cx="5537200" cy="1643185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t>Business question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defRPr sz="1800">
                <a:latin typeface="+mn-lt"/>
                <a:ea typeface="+mn-ea"/>
                <a:cs typeface="+mn-cs"/>
                <a:sym typeface="Helvetica Neue"/>
              </a:defRPr>
            </a:pPr>
            <a:r>
              <a:t>Can intake information help Claims staff prioritise early review? The data contains 1,000 synthetic claims and 150 litigation outcomes.</a:t>
            </a:r>
          </a:p>
        </p:txBody>
      </p:sp>
      <p:sp>
        <p:nvSpPr>
          <p:cNvPr id="101" name="Slide Number Placeholder 1"/>
          <p:cNvSpPr txBox="1"/>
          <p:nvPr>
            <p:ph type="sldNum" sz="quarter" idx="2"/>
          </p:nvPr>
        </p:nvSpPr>
        <p:spPr>
          <a:xfrm>
            <a:off x="11671298" y="6355433"/>
            <a:ext cx="127001" cy="1651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2" name="Content Placeholder 10"/>
          <p:cNvSpPr txBox="1"/>
          <p:nvPr/>
        </p:nvSpPr>
        <p:spPr>
          <a:xfrm>
            <a:off x="6256618" y="2032000"/>
            <a:ext cx="5537201" cy="1643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10000"/>
              </a:lnSpc>
              <a:defRPr sz="2400">
                <a:latin typeface="+mn-lt"/>
                <a:ea typeface="+mn-ea"/>
                <a:cs typeface="+mn-cs"/>
                <a:sym typeface="Helvetica Neue"/>
              </a:defRPr>
            </a:pPr>
            <a:r>
              <a:t>Availability before accuracy</a:t>
            </a:r>
          </a:p>
          <a:p>
            <a:pPr>
              <a:spcBef>
                <a:spcPts val="13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t>Audited six files. Used 18 original inputs and three engineered features. Excluded later activity and unverified historical totals.</a:t>
            </a:r>
          </a:p>
        </p:txBody>
      </p:sp>
      <p:sp>
        <p:nvSpPr>
          <p:cNvPr id="103" name="Title 2"/>
          <p:cNvSpPr txBox="1"/>
          <p:nvPr>
            <p:ph type="title"/>
          </p:nvPr>
        </p:nvSpPr>
        <p:spPr>
          <a:xfrm>
            <a:off x="393700" y="344008"/>
            <a:ext cx="7835900" cy="1040294"/>
          </a:xfrm>
          <a:prstGeom prst="rect">
            <a:avLst/>
          </a:prstGeom>
        </p:spPr>
        <p:txBody>
          <a:bodyPr/>
          <a:lstStyle/>
          <a:p>
            <a:pPr/>
            <a:r>
              <a:t>Data and modelling approach</a:t>
            </a:r>
          </a:p>
        </p:txBody>
      </p:sp>
      <p:sp>
        <p:nvSpPr>
          <p:cNvPr id="104" name="Content Placeholder 9"/>
          <p:cNvSpPr txBox="1"/>
          <p:nvPr/>
        </p:nvSpPr>
        <p:spPr>
          <a:xfrm>
            <a:off x="393700" y="4016974"/>
            <a:ext cx="5537200" cy="1643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10000"/>
              </a:lnSpc>
              <a:defRPr sz="2400">
                <a:latin typeface="+mn-lt"/>
                <a:ea typeface="+mn-ea"/>
                <a:cs typeface="+mn-cs"/>
                <a:sym typeface="Helvetica Neue"/>
              </a:defRPr>
            </a:pPr>
            <a:r>
              <a:t>Reproducible Python workflow</a:t>
            </a:r>
          </a:p>
          <a:p>
            <a:pPr>
              <a:spcBef>
                <a:spcPts val="13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t>pandas for preparation, Seaborn for exploration and scikit-learn pipelines for preprocessing and model comparison.</a:t>
            </a:r>
          </a:p>
        </p:txBody>
      </p:sp>
      <p:sp>
        <p:nvSpPr>
          <p:cNvPr id="105" name="Content Placeholder 10"/>
          <p:cNvSpPr txBox="1"/>
          <p:nvPr/>
        </p:nvSpPr>
        <p:spPr>
          <a:xfrm>
            <a:off x="6256618" y="4016974"/>
            <a:ext cx="5537201" cy="1643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10000"/>
              </a:lnSpc>
              <a:defRPr sz="2400">
                <a:latin typeface="+mn-lt"/>
                <a:ea typeface="+mn-ea"/>
                <a:cs typeface="+mn-cs"/>
                <a:sym typeface="Helvetica Neue"/>
              </a:defRPr>
            </a:pPr>
            <a:r>
              <a:t>Separate evaluation groups</a:t>
            </a:r>
          </a:p>
          <a:p>
            <a:pPr>
              <a:spcBef>
                <a:spcPts val="13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t>600 training, 200 validation and 200 test claims. Compared a dummy baseline, logistic regression and random forest.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32;p58"/>
          <p:cNvSpPr txBox="1"/>
          <p:nvPr>
            <p:ph type="sldNum" sz="quarter" idx="2"/>
          </p:nvPr>
        </p:nvSpPr>
        <p:spPr>
          <a:xfrm>
            <a:off x="11671298" y="6317363"/>
            <a:ext cx="127001" cy="1651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/>
            <a:fld id="{86CB4B4D-7CA3-9044-876B-883B54F8677D}" type="slidenum"/>
          </a:p>
        </p:txBody>
      </p:sp>
      <p:sp>
        <p:nvSpPr>
          <p:cNvPr id="108" name="Google Shape;533;p58"/>
          <p:cNvSpPr txBox="1"/>
          <p:nvPr>
            <p:ph type="title"/>
          </p:nvPr>
        </p:nvSpPr>
        <p:spPr>
          <a:xfrm>
            <a:off x="393700" y="344009"/>
            <a:ext cx="7835900" cy="581584"/>
          </a:xfrm>
          <a:prstGeom prst="rect">
            <a:avLst/>
          </a:prstGeom>
        </p:spPr>
        <p:txBody>
          <a:bodyPr/>
          <a:lstStyle/>
          <a:p>
            <a:pPr/>
            <a:r>
              <a:t>Validation gains weakened on test claims</a:t>
            </a:r>
          </a:p>
        </p:txBody>
      </p:sp>
      <p:sp>
        <p:nvSpPr>
          <p:cNvPr id="109" name="Content Placeholder 15"/>
          <p:cNvSpPr txBox="1"/>
          <p:nvPr/>
        </p:nvSpPr>
        <p:spPr>
          <a:xfrm>
            <a:off x="400938" y="1057500"/>
            <a:ext cx="11404601" cy="890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Selected logistic regression with C = 0.5</a:t>
            </a:r>
            <a:endParaRPr sz="1600"/>
          </a:p>
          <a:p>
            <a:pPr>
              <a:lnSpc>
                <a:spcPct val="114000"/>
              </a:lnSpc>
              <a:spcBef>
                <a:spcPts val="600"/>
              </a:spcBef>
              <a:defRPr sz="1600">
                <a:latin typeface="+mn-lt"/>
                <a:ea typeface="+mn-ea"/>
                <a:cs typeface="+mn-cs"/>
                <a:sym typeface="Helvetica Neue"/>
              </a:defRPr>
            </a:pPr>
            <a:r>
              <a:t>The frozen cutoff of 0.643 targeted 20% validation review capacity. Test data remained outside model and threshold selection.</a:t>
            </a:r>
          </a:p>
        </p:txBody>
      </p:sp>
      <p:graphicFrame>
        <p:nvGraphicFramePr>
          <p:cNvPr id="110" name="Google Shape;644;p93"/>
          <p:cNvGraphicFramePr/>
          <p:nvPr/>
        </p:nvGraphicFramePr>
        <p:xfrm>
          <a:off x="393700" y="2251080"/>
          <a:ext cx="11404600" cy="360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006FAF"/>
                          </a:solidFill>
                        </a:rPr>
                        <a:t>Measure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 w="19050"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006FAF"/>
                          </a:solidFill>
                        </a:rPr>
                        <a:t>Validation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 w="19050"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006FAF"/>
                          </a:solidFill>
                        </a:rPr>
                        <a:t>Test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 w="19050"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006FAF"/>
                          </a:solidFill>
                        </a:rPr>
                        <a:t>Meaning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 w="19050"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 w="19050"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Claims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200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200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Evaluation size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Litigation cases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30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30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Actual positives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Flagged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40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41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Review workload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Detected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14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7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True positives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False alarms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26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34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False positives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Missed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16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23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False negatives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Precision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D1D2D3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35.0%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17.1%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Correct alerts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Recall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D1D2D3">
                          <a:alpha val="0"/>
                        </a:srgbClr>
                      </a:solidFill>
                    </a:lnT>
                    <a:lnB>
                      <a:solidFill>
                        <a:srgbClr val="9E9E9E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46.7%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9E9E9E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23.3%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9E9E9E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700"/>
                        </a:spcBef>
                        <a:defRPr sz="1800"/>
                      </a:pPr>
                      <a:r>
                        <a:rPr sz="1400"/>
                        <a:t>Litigation found</a:t>
                      </a: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9E9E9E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>
                      <a:solidFill>
                        <a:srgbClr val="9E9E9E">
                          <a:alpha val="0"/>
                        </a:srgbClr>
                      </a:solidFill>
                    </a:lnL>
                    <a:lnR>
                      <a:solidFill>
                        <a:srgbClr val="9E9E9E">
                          <a:alpha val="0"/>
                        </a:srgbClr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9E9E9E">
                          <a:alpha val="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534;p58"/>
          <p:cNvSpPr txBox="1"/>
          <p:nvPr>
            <p:ph type="body" sz="half" idx="1"/>
          </p:nvPr>
        </p:nvSpPr>
        <p:spPr>
          <a:xfrm>
            <a:off x="393700" y="1391498"/>
            <a:ext cx="5537200" cy="46029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  <a:r>
              <a:t>Limited benefit at the chosen cutoff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  <a:r>
              <a:t>41 claims flagged for review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  <a:r>
              <a:t>7 litigation cases detected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  <a:r>
              <a:t>34 false alarms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  <a:r>
              <a:t>23 litigation cases missed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  <a:r>
              <a:t>Test average precision was about 0.23, compared with a 0.15 no-skill reference.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800"/>
            </a:pPr>
            <a:r>
              <a:t>The curve describes ranking across cutoffs. The operational cutoff remains fixed.</a:t>
            </a:r>
          </a:p>
        </p:txBody>
      </p:sp>
      <p:sp>
        <p:nvSpPr>
          <p:cNvPr id="113" name="Google Shape;532;p58"/>
          <p:cNvSpPr txBox="1"/>
          <p:nvPr>
            <p:ph type="sldNum" sz="quarter" idx="2"/>
          </p:nvPr>
        </p:nvSpPr>
        <p:spPr>
          <a:xfrm>
            <a:off x="11671298" y="6317363"/>
            <a:ext cx="127001" cy="1651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/>
            <a:fld id="{86CB4B4D-7CA3-9044-876B-883B54F8677D}" type="slidenum"/>
          </a:p>
        </p:txBody>
      </p:sp>
      <p:sp>
        <p:nvSpPr>
          <p:cNvPr id="114" name="Google Shape;533;p58"/>
          <p:cNvSpPr txBox="1"/>
          <p:nvPr>
            <p:ph type="title"/>
          </p:nvPr>
        </p:nvSpPr>
        <p:spPr>
          <a:xfrm>
            <a:off x="393700" y="344009"/>
            <a:ext cx="5529261" cy="697392"/>
          </a:xfrm>
          <a:prstGeom prst="rect">
            <a:avLst/>
          </a:prstGeom>
        </p:spPr>
        <p:txBody>
          <a:bodyPr/>
          <a:lstStyle>
            <a:lvl1pPr defTabSz="905255">
              <a:defRPr sz="2871"/>
            </a:lvl1pPr>
          </a:lstStyle>
          <a:p>
            <a:pPr/>
            <a:r>
              <a:t>Precision and recall on test claims</a:t>
            </a:r>
          </a:p>
        </p:txBody>
      </p:sp>
      <p:pic>
        <p:nvPicPr>
          <p:cNvPr id="11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41700" y="3333750"/>
            <a:ext cx="2918850" cy="2952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test_confusion_matrix.png" descr="test_confusion_matri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26431" y="333375"/>
            <a:ext cx="3349389" cy="2952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532;p58"/>
          <p:cNvSpPr txBox="1"/>
          <p:nvPr>
            <p:ph type="sldNum" sz="quarter" idx="2"/>
          </p:nvPr>
        </p:nvSpPr>
        <p:spPr>
          <a:xfrm>
            <a:off x="11671298" y="6317363"/>
            <a:ext cx="127001" cy="1651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/>
            <a:fld id="{86CB4B4D-7CA3-9044-876B-883B54F8677D}" type="slidenum"/>
          </a:p>
        </p:txBody>
      </p:sp>
      <p:sp>
        <p:nvSpPr>
          <p:cNvPr id="119" name="Google Shape;533;p58"/>
          <p:cNvSpPr txBox="1"/>
          <p:nvPr>
            <p:ph type="title"/>
          </p:nvPr>
        </p:nvSpPr>
        <p:spPr>
          <a:xfrm>
            <a:off x="393700" y="344007"/>
            <a:ext cx="7835900" cy="1047493"/>
          </a:xfrm>
          <a:prstGeom prst="rect">
            <a:avLst/>
          </a:prstGeom>
        </p:spPr>
        <p:txBody>
          <a:bodyPr/>
          <a:lstStyle/>
          <a:p>
            <a:pPr/>
            <a:r>
              <a:t>Further evidence is needed before deployment</a:t>
            </a:r>
          </a:p>
        </p:txBody>
      </p:sp>
      <p:sp>
        <p:nvSpPr>
          <p:cNvPr id="120" name="Content Placeholder 10"/>
          <p:cNvSpPr txBox="1"/>
          <p:nvPr/>
        </p:nvSpPr>
        <p:spPr>
          <a:xfrm>
            <a:off x="6972300" y="2374900"/>
            <a:ext cx="48260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spcBef>
                <a:spcPts val="1300"/>
              </a:spcBef>
              <a:defRPr sz="16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Verify intake availability, outcome timing and sufficient follow-up with Claims experts.</a:t>
            </a:r>
          </a:p>
        </p:txBody>
      </p:sp>
      <p:sp>
        <p:nvSpPr>
          <p:cNvPr id="121" name="Content Placeholder 10"/>
          <p:cNvSpPr txBox="1"/>
          <p:nvPr/>
        </p:nvSpPr>
        <p:spPr>
          <a:xfrm>
            <a:off x="4851400" y="2374900"/>
            <a:ext cx="18669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spcBef>
                <a:spcPts val="1300"/>
              </a:spcBef>
              <a:defRPr sz="1000">
                <a:solidFill>
                  <a:srgbClr val="006FA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Confirm</a:t>
            </a:r>
            <a:endParaRPr sz="1500"/>
          </a:p>
          <a:p>
            <a:pPr>
              <a:spcBef>
                <a:spcPts val="1300"/>
              </a:spcBef>
              <a:defRPr sz="1000">
                <a:solidFill>
                  <a:srgbClr val="006FA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definitions</a:t>
            </a:r>
          </a:p>
        </p:txBody>
      </p:sp>
      <p:sp>
        <p:nvSpPr>
          <p:cNvPr id="122" name="Content Placeholder 10"/>
          <p:cNvSpPr txBox="1"/>
          <p:nvPr/>
        </p:nvSpPr>
        <p:spPr>
          <a:xfrm>
            <a:off x="6972300" y="3365501"/>
            <a:ext cx="48260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spcBef>
                <a:spcPts val="1300"/>
              </a:spcBef>
              <a:defRPr sz="16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The 20% workload is illustrative. Agree acceptable missed cases and false alarms.</a:t>
            </a:r>
          </a:p>
        </p:txBody>
      </p:sp>
      <p:sp>
        <p:nvSpPr>
          <p:cNvPr id="123" name="Content Placeholder 10"/>
          <p:cNvSpPr txBox="1"/>
          <p:nvPr/>
        </p:nvSpPr>
        <p:spPr>
          <a:xfrm>
            <a:off x="4851400" y="3365501"/>
            <a:ext cx="18669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spcBef>
                <a:spcPts val="1300"/>
              </a:spcBef>
              <a:defRPr sz="1000">
                <a:solidFill>
                  <a:srgbClr val="006FA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Agree review</a:t>
            </a:r>
            <a:endParaRPr sz="1500"/>
          </a:p>
          <a:p>
            <a:pPr>
              <a:spcBef>
                <a:spcPts val="1300"/>
              </a:spcBef>
              <a:defRPr sz="1000">
                <a:solidFill>
                  <a:srgbClr val="006FA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capacity</a:t>
            </a:r>
          </a:p>
        </p:txBody>
      </p:sp>
      <p:sp>
        <p:nvSpPr>
          <p:cNvPr id="124" name="Content Placeholder 10"/>
          <p:cNvSpPr txBox="1"/>
          <p:nvPr/>
        </p:nvSpPr>
        <p:spPr>
          <a:xfrm>
            <a:off x="6972300" y="4356101"/>
            <a:ext cx="48260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spcBef>
                <a:spcPts val="1300"/>
              </a:spcBef>
              <a:defRPr sz="15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Use representative data and chronological evaluation. Each current holdout has only 30 positives.</a:t>
            </a:r>
          </a:p>
        </p:txBody>
      </p:sp>
      <p:sp>
        <p:nvSpPr>
          <p:cNvPr id="125" name="Content Placeholder 10"/>
          <p:cNvSpPr txBox="1"/>
          <p:nvPr/>
        </p:nvSpPr>
        <p:spPr>
          <a:xfrm>
            <a:off x="4851400" y="4356101"/>
            <a:ext cx="18669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spcBef>
                <a:spcPts val="1300"/>
              </a:spcBef>
              <a:defRPr sz="1000">
                <a:solidFill>
                  <a:srgbClr val="006FA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Evaluate</a:t>
            </a:r>
            <a:endParaRPr sz="1500"/>
          </a:p>
          <a:p>
            <a:pPr>
              <a:spcBef>
                <a:spcPts val="1300"/>
              </a:spcBef>
              <a:defRPr sz="1000">
                <a:solidFill>
                  <a:srgbClr val="006FA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future claims</a:t>
            </a:r>
          </a:p>
        </p:txBody>
      </p:sp>
      <p:sp>
        <p:nvSpPr>
          <p:cNvPr id="126" name="Content Placeholder 10"/>
          <p:cNvSpPr txBox="1"/>
          <p:nvPr/>
        </p:nvSpPr>
        <p:spPr>
          <a:xfrm>
            <a:off x="6972300" y="5359401"/>
            <a:ext cx="48260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spcBef>
                <a:spcPts val="1300"/>
              </a:spcBef>
              <a:defRPr sz="16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Only if evidence improves. AWS deployment and monitoring remain proposed work.</a:t>
            </a:r>
          </a:p>
        </p:txBody>
      </p:sp>
      <p:sp>
        <p:nvSpPr>
          <p:cNvPr id="127" name="Content Placeholder 10"/>
          <p:cNvSpPr txBox="1"/>
          <p:nvPr/>
        </p:nvSpPr>
        <p:spPr>
          <a:xfrm>
            <a:off x="4851400" y="5359401"/>
            <a:ext cx="18669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spcBef>
                <a:spcPts val="1300"/>
              </a:spcBef>
              <a:defRPr sz="1000">
                <a:solidFill>
                  <a:srgbClr val="006FA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Plan a</a:t>
            </a:r>
            <a:endParaRPr sz="1500"/>
          </a:p>
          <a:p>
            <a:pPr>
              <a:spcBef>
                <a:spcPts val="1300"/>
              </a:spcBef>
              <a:defRPr sz="1000">
                <a:solidFill>
                  <a:srgbClr val="006FA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monitored pilot</a:t>
            </a:r>
          </a:p>
        </p:txBody>
      </p:sp>
      <p:sp>
        <p:nvSpPr>
          <p:cNvPr id="128" name="Google Shape;534;p58"/>
          <p:cNvSpPr txBox="1"/>
          <p:nvPr/>
        </p:nvSpPr>
        <p:spPr>
          <a:xfrm>
            <a:off x="393700" y="2374900"/>
            <a:ext cx="3568700" cy="3524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4000"/>
              </a:lnSpc>
              <a:spcBef>
                <a:spcPts val="8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t>Recommendation</a:t>
            </a:r>
            <a:endParaRPr sz="2400"/>
          </a:p>
          <a:p>
            <a:pPr>
              <a:lnSpc>
                <a:spcPct val="114000"/>
              </a:lnSpc>
              <a:spcBef>
                <a:spcPts val="8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t>Do not deploy the current model.</a:t>
            </a:r>
            <a:endParaRPr sz="2400"/>
          </a:p>
          <a:p>
            <a:pPr>
              <a:lnSpc>
                <a:spcPct val="114000"/>
              </a:lnSpc>
              <a:spcBef>
                <a:spcPts val="8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endParaRPr sz="2400"/>
          </a:p>
          <a:p>
            <a:pPr>
              <a:lnSpc>
                <a:spcPct val="114000"/>
              </a:lnSpc>
              <a:spcBef>
                <a:spcPts val="8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t>Validation importance highlights reporting delay, deductible relative to coverage, and cause of loss.</a:t>
            </a:r>
            <a:endParaRPr sz="2400"/>
          </a:p>
          <a:p>
            <a:pPr>
              <a:lnSpc>
                <a:spcPct val="114000"/>
              </a:lnSpc>
              <a:spcBef>
                <a:spcPts val="8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endParaRPr sz="2400"/>
          </a:p>
          <a:p>
            <a:pPr>
              <a:lnSpc>
                <a:spcPct val="114000"/>
              </a:lnSpc>
              <a:spcBef>
                <a:spcPts val="800"/>
              </a:spcBef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t>These explain model reliance, not causal effects.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534;p58"/>
          <p:cNvSpPr txBox="1"/>
          <p:nvPr>
            <p:ph type="body" sz="quarter" idx="1"/>
          </p:nvPr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4000"/>
              </a:lnSpc>
              <a:spcBef>
                <a:spcPts val="800"/>
              </a:spcBef>
              <a:defRPr sz="1600"/>
            </a:pPr>
            <a:r>
              <a:t>Class imbalance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600"/>
            </a:pPr>
            <a:r>
              <a:t>90 of 600 training claims litigated. Accuracy alone would hide missed cases.</a:t>
            </a:r>
          </a:p>
        </p:txBody>
      </p:sp>
      <p:sp>
        <p:nvSpPr>
          <p:cNvPr id="131" name="Google Shape;532;p58"/>
          <p:cNvSpPr txBox="1"/>
          <p:nvPr>
            <p:ph type="sldNum" sz="quarter" idx="2"/>
          </p:nvPr>
        </p:nvSpPr>
        <p:spPr>
          <a:xfrm>
            <a:off x="11671298" y="6317363"/>
            <a:ext cx="127001" cy="1651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/>
            <a:fld id="{86CB4B4D-7CA3-9044-876B-883B54F8677D}" type="slidenum"/>
          </a:p>
        </p:txBody>
      </p:sp>
      <p:sp>
        <p:nvSpPr>
          <p:cNvPr id="132" name="Content Placeholder 1"/>
          <p:cNvSpPr txBox="1"/>
          <p:nvPr/>
        </p:nvSpPr>
        <p:spPr>
          <a:xfrm>
            <a:off x="4318000" y="4013200"/>
            <a:ext cx="3568700" cy="198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2600"/>
              </a:lnSpc>
              <a:spcBef>
                <a:spcPts val="800"/>
              </a:spcBef>
              <a:defRPr sz="1600"/>
            </a:pPr>
            <a:r>
              <a:t>Cause of loss</a:t>
            </a:r>
            <a:endParaRPr sz="2400"/>
          </a:p>
          <a:p>
            <a:pPr>
              <a:lnSpc>
                <a:spcPct val="102600"/>
              </a:lnSpc>
              <a:spcBef>
                <a:spcPts val="800"/>
              </a:spcBef>
              <a:defRPr sz="1600"/>
            </a:pPr>
            <a:r>
              <a:t>Hail and wind show higher observed rates. Group sizes differ.</a:t>
            </a:r>
          </a:p>
        </p:txBody>
      </p:sp>
      <p:sp>
        <p:nvSpPr>
          <p:cNvPr id="133" name="Content Placeholder 2"/>
          <p:cNvSpPr txBox="1"/>
          <p:nvPr/>
        </p:nvSpPr>
        <p:spPr>
          <a:xfrm>
            <a:off x="8232272" y="4013200"/>
            <a:ext cx="3568701" cy="198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2600"/>
              </a:lnSpc>
              <a:spcBef>
                <a:spcPts val="800"/>
              </a:spcBef>
              <a:defRPr sz="1600"/>
            </a:pPr>
            <a:r>
              <a:t>Reporting delay</a:t>
            </a:r>
            <a:endParaRPr sz="2400"/>
          </a:p>
          <a:p>
            <a:pPr>
              <a:lnSpc>
                <a:spcPct val="102600"/>
              </a:lnSpc>
              <a:spcBef>
                <a:spcPts val="800"/>
              </a:spcBef>
              <a:defRPr sz="1600"/>
            </a:pPr>
            <a:r>
              <a:t>Litigated claims have a wider spread of delays, with substantial overlap.</a:t>
            </a:r>
          </a:p>
        </p:txBody>
      </p:sp>
      <p:sp>
        <p:nvSpPr>
          <p:cNvPr id="134" name="Google Shape;533;p58"/>
          <p:cNvSpPr txBox="1"/>
          <p:nvPr>
            <p:ph type="title"/>
          </p:nvPr>
        </p:nvSpPr>
        <p:spPr>
          <a:xfrm>
            <a:off x="393700" y="344009"/>
            <a:ext cx="11404600" cy="697392"/>
          </a:xfrm>
          <a:prstGeom prst="rect">
            <a:avLst/>
          </a:prstGeom>
        </p:spPr>
        <p:txBody>
          <a:bodyPr/>
          <a:lstStyle/>
          <a:p>
            <a:pPr/>
            <a:r>
              <a:t>Appendix  Training data exploration</a:t>
            </a:r>
          </a:p>
        </p:txBody>
      </p:sp>
      <p:pic>
        <p:nvPicPr>
          <p:cNvPr id="13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9482" y="1544363"/>
            <a:ext cx="2707162" cy="20039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03964" y="1574693"/>
            <a:ext cx="3578727" cy="19433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38290" y="1544363"/>
            <a:ext cx="3578728" cy="20039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534;p58"/>
          <p:cNvSpPr txBox="1"/>
          <p:nvPr>
            <p:ph type="body" sz="quarter" idx="1"/>
          </p:nvPr>
        </p:nvSpPr>
        <p:spPr>
          <a:xfrm>
            <a:off x="393700" y="1638300"/>
            <a:ext cx="3568700" cy="4356099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4000"/>
              </a:lnSpc>
              <a:spcBef>
                <a:spcPts val="800"/>
              </a:spcBef>
              <a:defRPr sz="1600"/>
            </a:pPr>
            <a:r>
              <a:t>Validation permutation importance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600"/>
            </a:pPr>
            <a:r>
              <a:t>Reporting delay and deductible relative to coverage lead.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600"/>
            </a:pP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600"/>
            </a:pPr>
            <a:r>
              <a:t>Error bars show variation across five shuffles. They are not confidence intervals.</a:t>
            </a: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600"/>
            </a:pPr>
          </a:p>
          <a:p>
            <a:pPr marL="0" indent="0">
              <a:lnSpc>
                <a:spcPct val="114000"/>
              </a:lnSpc>
              <a:spcBef>
                <a:spcPts val="800"/>
              </a:spcBef>
              <a:defRPr sz="1600"/>
            </a:pPr>
            <a:r>
              <a:t>Related ratios complicate interpretation. No features were removed after testing.</a:t>
            </a:r>
          </a:p>
        </p:txBody>
      </p:sp>
      <p:sp>
        <p:nvSpPr>
          <p:cNvPr id="140" name="Google Shape;532;p58"/>
          <p:cNvSpPr txBox="1"/>
          <p:nvPr>
            <p:ph type="sldNum" sz="quarter" idx="2"/>
          </p:nvPr>
        </p:nvSpPr>
        <p:spPr>
          <a:xfrm>
            <a:off x="11671298" y="6317363"/>
            <a:ext cx="127001" cy="1651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/>
          <a:p>
            <a:pPr/>
            <a:fld id="{86CB4B4D-7CA3-9044-876B-883B54F8677D}" type="slidenum"/>
          </a:p>
        </p:txBody>
      </p:sp>
      <p:sp>
        <p:nvSpPr>
          <p:cNvPr id="141" name="Google Shape;533;p58"/>
          <p:cNvSpPr txBox="1"/>
          <p:nvPr>
            <p:ph type="title"/>
          </p:nvPr>
        </p:nvSpPr>
        <p:spPr>
          <a:xfrm>
            <a:off x="393700" y="344007"/>
            <a:ext cx="3568700" cy="900594"/>
          </a:xfrm>
          <a:prstGeom prst="rect">
            <a:avLst/>
          </a:prstGeom>
        </p:spPr>
        <p:txBody>
          <a:bodyPr/>
          <a:lstStyle/>
          <a:p>
            <a:pPr/>
            <a:r>
              <a:t>Appendix</a:t>
            </a:r>
          </a:p>
          <a:p>
            <a:pPr/>
            <a:r>
              <a:t>Model interpretation</a:t>
            </a:r>
          </a:p>
        </p:txBody>
      </p:sp>
      <p:pic>
        <p:nvPicPr>
          <p:cNvPr id="14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05300" y="1176562"/>
            <a:ext cx="7503480" cy="40417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efault Codex Theme">
  <a:themeElements>
    <a:clrScheme name="Default Codex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0000FF"/>
      </a:hlink>
      <a:folHlink>
        <a:srgbClr val="FF00FF"/>
      </a:folHlink>
    </a:clrScheme>
    <a:fontScheme name="Default Codex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 Codex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Inter"/>
            <a:ea typeface="Inter"/>
            <a:cs typeface="Inter"/>
            <a:sym typeface="In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Inter"/>
            <a:ea typeface="Inter"/>
            <a:cs typeface="Inter"/>
            <a:sym typeface="In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efault Codex Theme">
  <a:themeElements>
    <a:clrScheme name="Default Codex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0000FF"/>
      </a:hlink>
      <a:folHlink>
        <a:srgbClr val="FF00FF"/>
      </a:folHlink>
    </a:clrScheme>
    <a:fontScheme name="Default Codex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 Codex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Inter"/>
            <a:ea typeface="Inter"/>
            <a:cs typeface="Inter"/>
            <a:sym typeface="In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Inter"/>
            <a:ea typeface="Inter"/>
            <a:cs typeface="Inter"/>
            <a:sym typeface="In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